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60" r:id="rId4"/>
    <p:sldId id="278" r:id="rId5"/>
    <p:sldId id="263" r:id="rId6"/>
    <p:sldId id="279" r:id="rId7"/>
    <p:sldId id="280" r:id="rId8"/>
    <p:sldId id="281" r:id="rId9"/>
    <p:sldId id="282" r:id="rId10"/>
    <p:sldId id="264" r:id="rId11"/>
    <p:sldId id="283" r:id="rId12"/>
    <p:sldId id="284" r:id="rId13"/>
    <p:sldId id="285" r:id="rId14"/>
    <p:sldId id="286" r:id="rId15"/>
    <p:sldId id="265" r:id="rId16"/>
    <p:sldId id="290" r:id="rId17"/>
    <p:sldId id="291" r:id="rId18"/>
    <p:sldId id="292" r:id="rId19"/>
    <p:sldId id="293" r:id="rId20"/>
    <p:sldId id="294" r:id="rId21"/>
    <p:sldId id="266" r:id="rId22"/>
    <p:sldId id="267" r:id="rId23"/>
    <p:sldId id="288" r:id="rId24"/>
    <p:sldId id="289" r:id="rId25"/>
    <p:sldId id="268" r:id="rId26"/>
    <p:sldId id="269" r:id="rId27"/>
    <p:sldId id="295" r:id="rId28"/>
    <p:sldId id="296" r:id="rId29"/>
    <p:sldId id="297" r:id="rId30"/>
    <p:sldId id="270" r:id="rId31"/>
    <p:sldId id="271" r:id="rId32"/>
    <p:sldId id="272" r:id="rId33"/>
    <p:sldId id="273" r:id="rId34"/>
    <p:sldId id="275" r:id="rId35"/>
    <p:sldId id="298" r:id="rId36"/>
    <p:sldId id="299" r:id="rId37"/>
    <p:sldId id="300" r:id="rId38"/>
    <p:sldId id="276" r:id="rId39"/>
    <p:sldId id="277" r:id="rId40"/>
    <p:sldId id="301" r:id="rId41"/>
    <p:sldId id="302" r:id="rId42"/>
    <p:sldId id="303" r:id="rId43"/>
    <p:sldId id="309" r:id="rId44"/>
    <p:sldId id="310" r:id="rId45"/>
    <p:sldId id="311" r:id="rId46"/>
    <p:sldId id="312" r:id="rId47"/>
    <p:sldId id="274" r:id="rId48"/>
    <p:sldId id="304" r:id="rId49"/>
    <p:sldId id="305" r:id="rId50"/>
    <p:sldId id="306" r:id="rId51"/>
    <p:sldId id="307" r:id="rId52"/>
    <p:sldId id="308" r:id="rId53"/>
    <p:sldId id="313" r:id="rId54"/>
    <p:sldId id="314" r:id="rId55"/>
    <p:sldId id="315" r:id="rId56"/>
    <p:sldId id="316"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smtClean="0"/>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171CB0A-A7F9-4221-A933-A143C3C4F12C}" type="datetimeFigureOut">
              <a:rPr lang="en-IN" smtClean="0"/>
              <a:pPr/>
              <a:t>22-01-2025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66FF4A-1E04-4F6C-BA66-DFCCD1766F6D}" type="slidenum">
              <a:rPr lang="en-IN" smtClean="0"/>
              <a:pPr/>
              <a:t>‹#›</a:t>
            </a:fld>
            <a:endParaRPr lang="en-IN"/>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19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171CB0A-A7F9-4221-A933-A143C3C4F12C}" type="datetimeFigureOut">
              <a:rPr lang="en-IN" smtClean="0"/>
              <a:pPr/>
              <a:t>22-01-2025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66FF4A-1E04-4F6C-BA66-DFCCD1766F6D}" type="slidenum">
              <a:rPr lang="en-IN" smtClean="0"/>
              <a:pPr/>
              <a:t>‹#›</a:t>
            </a:fld>
            <a:endParaRPr lang="en-IN"/>
          </a:p>
        </p:txBody>
      </p:sp>
    </p:spTree>
    <p:extLst>
      <p:ext uri="{BB962C8B-B14F-4D97-AF65-F5344CB8AC3E}">
        <p14:creationId xmlns:p14="http://schemas.microsoft.com/office/powerpoint/2010/main" val="1768753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171CB0A-A7F9-4221-A933-A143C3C4F12C}" type="datetimeFigureOut">
              <a:rPr lang="en-IN" smtClean="0"/>
              <a:pPr/>
              <a:t>22-01-2025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66FF4A-1E04-4F6C-BA66-DFCCD1766F6D}" type="slidenum">
              <a:rPr lang="en-IN" smtClean="0"/>
              <a:pPr/>
              <a:t>‹#›</a:t>
            </a:fld>
            <a:endParaRPr lang="en-IN"/>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329637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171CB0A-A7F9-4221-A933-A143C3C4F12C}" type="datetimeFigureOut">
              <a:rPr lang="en-IN" smtClean="0"/>
              <a:pPr/>
              <a:t>22-01-2025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66FF4A-1E04-4F6C-BA66-DFCCD1766F6D}" type="slidenum">
              <a:rPr lang="en-IN" smtClean="0"/>
              <a:pPr/>
              <a:t>‹#›</a:t>
            </a:fld>
            <a:endParaRPr lang="en-IN"/>
          </a:p>
        </p:txBody>
      </p:sp>
    </p:spTree>
    <p:extLst>
      <p:ext uri="{BB962C8B-B14F-4D97-AF65-F5344CB8AC3E}">
        <p14:creationId xmlns:p14="http://schemas.microsoft.com/office/powerpoint/2010/main" val="1529780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171CB0A-A7F9-4221-A933-A143C3C4F12C}" type="datetimeFigureOut">
              <a:rPr lang="en-IN" smtClean="0"/>
              <a:pPr/>
              <a:t>22-01-2025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F66FF4A-1E04-4F6C-BA66-DFCCD1766F6D}" type="slidenum">
              <a:rPr lang="en-IN" smtClean="0"/>
              <a:pPr/>
              <a:t>‹#›</a:t>
            </a:fld>
            <a:endParaRPr lang="en-IN"/>
          </a:p>
        </p:txBody>
      </p:sp>
      <p:cxnSp>
        <p:nvCxnSpPr>
          <p:cNvPr id="11" name="Straight Connector 10"/>
          <p:cNvCxnSpPr/>
          <p:nvPr/>
        </p:nvCxnSpPr>
        <p:spPr>
          <a:xfrm rot="5400000">
            <a:off x="3741949" y="4045691"/>
            <a:ext cx="4709160" cy="1059"/>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4910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171CB0A-A7F9-4221-A933-A143C3C4F12C}" type="datetimeFigureOut">
              <a:rPr lang="en-IN" smtClean="0"/>
              <a:pPr/>
              <a:t>22-01-2025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F66FF4A-1E04-4F6C-BA66-DFCCD1766F6D}" type="slidenum">
              <a:rPr lang="en-IN" smtClean="0"/>
              <a:pPr/>
              <a:t>‹#›</a:t>
            </a:fld>
            <a:endParaRPr lang="en-IN"/>
          </a:p>
        </p:txBody>
      </p:sp>
    </p:spTree>
    <p:extLst>
      <p:ext uri="{BB962C8B-B14F-4D97-AF65-F5344CB8AC3E}">
        <p14:creationId xmlns:p14="http://schemas.microsoft.com/office/powerpoint/2010/main" val="3060189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71CB0A-A7F9-4221-A933-A143C3C4F12C}" type="datetimeFigureOut">
              <a:rPr lang="en-IN" smtClean="0"/>
              <a:pPr/>
              <a:t>22-01-2025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F66FF4A-1E04-4F6C-BA66-DFCCD1766F6D}" type="slidenum">
              <a:rPr lang="en-IN" smtClean="0"/>
              <a:pPr/>
              <a:t>‹#›</a:t>
            </a:fld>
            <a:endParaRPr lang="en-IN"/>
          </a:p>
        </p:txBody>
      </p:sp>
    </p:spTree>
    <p:extLst>
      <p:ext uri="{BB962C8B-B14F-4D97-AF65-F5344CB8AC3E}">
        <p14:creationId xmlns:p14="http://schemas.microsoft.com/office/powerpoint/2010/main" val="1386486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171CB0A-A7F9-4221-A933-A143C3C4F12C}" type="datetimeFigureOut">
              <a:rPr lang="en-IN" smtClean="0"/>
              <a:pPr/>
              <a:t>22-01-2025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66FF4A-1E04-4F6C-BA66-DFCCD1766F6D}" type="slidenum">
              <a:rPr lang="en-IN" smtClean="0"/>
              <a:pPr/>
              <a:t>‹#›</a:t>
            </a:fld>
            <a:endParaRPr lang="en-IN"/>
          </a:p>
        </p:txBody>
      </p:sp>
      <p:cxnSp>
        <p:nvCxnSpPr>
          <p:cNvPr id="9" name="Straight Connector 8"/>
          <p:cNvCxnSpPr/>
          <p:nvPr/>
        </p:nvCxnSpPr>
        <p:spPr>
          <a:xfrm rot="5400000">
            <a:off x="912152" y="3579942"/>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6317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171CB0A-A7F9-4221-A933-A143C3C4F12C}" type="datetimeFigureOut">
              <a:rPr lang="en-IN" smtClean="0"/>
              <a:pPr/>
              <a:t>22-01-2025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66FF4A-1E04-4F6C-BA66-DFCCD1766F6D}" type="slidenum">
              <a:rPr lang="en-IN" smtClean="0"/>
              <a:pPr/>
              <a:t>‹#›</a:t>
            </a:fld>
            <a:endParaRPr lang="en-IN"/>
          </a:p>
        </p:txBody>
      </p:sp>
    </p:spTree>
    <p:extLst>
      <p:ext uri="{BB962C8B-B14F-4D97-AF65-F5344CB8AC3E}">
        <p14:creationId xmlns:p14="http://schemas.microsoft.com/office/powerpoint/2010/main" val="3305178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171CB0A-A7F9-4221-A933-A143C3C4F12C}" type="datetimeFigureOut">
              <a:rPr lang="en-IN" smtClean="0"/>
              <a:pPr/>
              <a:t>22-01-2025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66FF4A-1E04-4F6C-BA66-DFCCD1766F6D}" type="slidenum">
              <a:rPr lang="en-IN" smtClean="0"/>
              <a:pPr/>
              <a:t>‹#›</a:t>
            </a:fld>
            <a:endParaRPr lang="en-IN"/>
          </a:p>
        </p:txBody>
      </p:sp>
    </p:spTree>
    <p:extLst>
      <p:ext uri="{BB962C8B-B14F-4D97-AF65-F5344CB8AC3E}">
        <p14:creationId xmlns:p14="http://schemas.microsoft.com/office/powerpoint/2010/main" val="1396166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171CB0A-A7F9-4221-A933-A143C3C4F12C}" type="datetimeFigureOut">
              <a:rPr lang="en-IN" smtClean="0"/>
              <a:pPr/>
              <a:t>22-01-2025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66FF4A-1E04-4F6C-BA66-DFCCD1766F6D}" type="slidenum">
              <a:rPr lang="en-IN" smtClean="0"/>
              <a:pPr/>
              <a:t>‹#›</a:t>
            </a:fld>
            <a:endParaRPr lang="en-IN"/>
          </a:p>
        </p:txBody>
      </p:sp>
    </p:spTree>
    <p:extLst>
      <p:ext uri="{BB962C8B-B14F-4D97-AF65-F5344CB8AC3E}">
        <p14:creationId xmlns:p14="http://schemas.microsoft.com/office/powerpoint/2010/main" val="1443500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2" name="Title Placeholder 1"/>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fld id="{C171CB0A-A7F9-4221-A933-A143C3C4F12C}" type="datetimeFigureOut">
              <a:rPr lang="en-IN" smtClean="0"/>
              <a:pPr/>
              <a:t>22-01-2025</a:t>
            </a:fld>
            <a:endParaRPr lang="en-IN"/>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endParaRPr lang="en-IN"/>
          </a:p>
        </p:txBody>
      </p:sp>
      <p:sp>
        <p:nvSpPr>
          <p:cNvPr id="6" name="Slide Number Placeholder 5"/>
          <p:cNvSpPr>
            <a:spLocks noGrp="1"/>
          </p:cNvSpPr>
          <p:nvPr>
            <p:ph type="sldNum" sz="quarter" idx="4"/>
          </p:nvPr>
        </p:nvSpPr>
        <p:spPr>
          <a:xfrm>
            <a:off x="10160000" y="18288"/>
            <a:ext cx="1422400" cy="329184"/>
          </a:xfrm>
          <a:prstGeom prst="rect">
            <a:avLst/>
          </a:prstGeom>
        </p:spPr>
        <p:txBody>
          <a:bodyPr vert="horz" lIns="91440" tIns="45720" rIns="91440" bIns="45720" rtlCol="0" anchor="ctr"/>
          <a:lstStyle>
            <a:lvl1pPr algn="l">
              <a:defRPr sz="1400" b="1">
                <a:solidFill>
                  <a:srgbClr val="FFFFFF"/>
                </a:solidFill>
              </a:defRPr>
            </a:lvl1pPr>
          </a:lstStyle>
          <a:p>
            <a:fld id="{7F66FF4A-1E04-4F6C-BA66-DFCCD1766F6D}" type="slidenum">
              <a:rPr lang="en-IN" smtClean="0"/>
              <a:pPr/>
              <a:t>‹#›</a:t>
            </a:fld>
            <a:endParaRPr lang="en-IN"/>
          </a:p>
        </p:txBody>
      </p:sp>
    </p:spTree>
    <p:extLst>
      <p:ext uri="{BB962C8B-B14F-4D97-AF65-F5344CB8AC3E}">
        <p14:creationId xmlns:p14="http://schemas.microsoft.com/office/powerpoint/2010/main" val="15777203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85091" y="2708921"/>
            <a:ext cx="9271077" cy="545231"/>
          </a:xfrm>
        </p:spPr>
        <p:txBody>
          <a:bodyPr/>
          <a:lstStyle/>
          <a:p>
            <a:r>
              <a:rPr lang="en-IN" sz="3200" dirty="0" smtClean="0">
                <a:solidFill>
                  <a:srgbClr val="002060"/>
                </a:solidFill>
                <a:latin typeface="+mn-lt"/>
              </a:rPr>
              <a:t>PYTHON </a:t>
            </a:r>
            <a:r>
              <a:rPr lang="en-IN" sz="3200" dirty="0">
                <a:solidFill>
                  <a:srgbClr val="002060"/>
                </a:solidFill>
                <a:latin typeface="+mn-lt"/>
              </a:rPr>
              <a:t>Programming</a:t>
            </a:r>
          </a:p>
        </p:txBody>
      </p:sp>
      <p:sp>
        <p:nvSpPr>
          <p:cNvPr id="3" name="Subtitle 2"/>
          <p:cNvSpPr>
            <a:spLocks noGrp="1"/>
          </p:cNvSpPr>
          <p:nvPr>
            <p:ph type="subTitle" idx="1"/>
          </p:nvPr>
        </p:nvSpPr>
        <p:spPr>
          <a:xfrm>
            <a:off x="785091" y="3657600"/>
            <a:ext cx="7825509" cy="1600200"/>
          </a:xfrm>
        </p:spPr>
        <p:txBody>
          <a:bodyPr>
            <a:normAutofit fontScale="92500" lnSpcReduction="10000"/>
          </a:bodyPr>
          <a:lstStyle/>
          <a:p>
            <a:r>
              <a:rPr lang="en-IN" b="1" dirty="0">
                <a:solidFill>
                  <a:schemeClr val="tx1"/>
                </a:solidFill>
              </a:rPr>
              <a:t>24MCAGL107</a:t>
            </a:r>
            <a:r>
              <a:rPr lang="en-IN" b="1" dirty="0" smtClean="0">
                <a:solidFill>
                  <a:schemeClr val="tx1"/>
                </a:solidFill>
              </a:rPr>
              <a:t> – I SEM MCA – 2024-2025</a:t>
            </a:r>
          </a:p>
          <a:p>
            <a:endParaRPr lang="en-IN" b="1" dirty="0">
              <a:solidFill>
                <a:schemeClr val="tx1"/>
              </a:solidFill>
            </a:endParaRPr>
          </a:p>
          <a:p>
            <a:r>
              <a:rPr lang="en-IN" b="1" dirty="0" smtClean="0">
                <a:solidFill>
                  <a:schemeClr val="tx1"/>
                </a:solidFill>
              </a:rPr>
              <a:t>Prof. </a:t>
            </a:r>
            <a:r>
              <a:rPr lang="en-IN" b="1" dirty="0" err="1" smtClean="0">
                <a:solidFill>
                  <a:schemeClr val="tx1"/>
                </a:solidFill>
              </a:rPr>
              <a:t>Sheela</a:t>
            </a:r>
            <a:r>
              <a:rPr lang="en-IN" b="1" dirty="0" smtClean="0">
                <a:solidFill>
                  <a:schemeClr val="tx1"/>
                </a:solidFill>
              </a:rPr>
              <a:t> D V</a:t>
            </a:r>
          </a:p>
          <a:p>
            <a:r>
              <a:rPr lang="en-IN" b="1" dirty="0" smtClean="0">
                <a:solidFill>
                  <a:schemeClr val="tx1"/>
                </a:solidFill>
              </a:rPr>
              <a:t>Assistant Professor</a:t>
            </a:r>
            <a:endParaRPr lang="en-IN" b="1" dirty="0">
              <a:solidFill>
                <a:schemeClr val="tx1"/>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965" y="681590"/>
            <a:ext cx="4479380" cy="1053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9480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Course Objectives</a:t>
            </a:r>
            <a:endParaRPr lang="en-IN" dirty="0"/>
          </a:p>
        </p:txBody>
      </p:sp>
      <p:sp>
        <p:nvSpPr>
          <p:cNvPr id="3" name="Content Placeholder 2"/>
          <p:cNvSpPr>
            <a:spLocks noGrp="1"/>
          </p:cNvSpPr>
          <p:nvPr>
            <p:ph idx="1"/>
          </p:nvPr>
        </p:nvSpPr>
        <p:spPr/>
        <p:txBody>
          <a:bodyPr/>
          <a:lstStyle/>
          <a:p>
            <a:r>
              <a:rPr lang="en-US" dirty="0"/>
              <a:t>To learn how to design and develop basic Python programs, and to apply the methods to create and manipulate the data structures such as strings, lists, tuples, dictionaries and arrays. </a:t>
            </a:r>
          </a:p>
          <a:p>
            <a:r>
              <a:rPr lang="en-US" dirty="0"/>
              <a:t>Develop modular programs using functions. </a:t>
            </a:r>
          </a:p>
          <a:p>
            <a:r>
              <a:rPr lang="en-US" dirty="0"/>
              <a:t>Demonstrate object- oriented concepts and understand the regular expressions. </a:t>
            </a:r>
          </a:p>
          <a:p>
            <a:r>
              <a:rPr lang="en-US" dirty="0"/>
              <a:t>State the need for Python Programming and provide real life examples. </a:t>
            </a:r>
          </a:p>
          <a:p>
            <a:r>
              <a:rPr lang="en-US" dirty="0"/>
              <a:t>Acquire the knowledge about Django Architecture with python. 	</a:t>
            </a:r>
          </a:p>
        </p:txBody>
      </p:sp>
    </p:spTree>
    <p:extLst>
      <p:ext uri="{BB962C8B-B14F-4D97-AF65-F5344CB8AC3E}">
        <p14:creationId xmlns:p14="http://schemas.microsoft.com/office/powerpoint/2010/main" val="2554514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
            </a:r>
            <a:br>
              <a:rPr lang="en-IN" dirty="0" smtClean="0"/>
            </a:br>
            <a:r>
              <a:rPr lang="en-IN" dirty="0" smtClean="0"/>
              <a:t>Module 2: </a:t>
            </a:r>
            <a:r>
              <a:rPr lang="en-IN" b="1" dirty="0"/>
              <a:t>Python Functions </a:t>
            </a:r>
            <a:r>
              <a:rPr lang="en-IN" dirty="0"/>
              <a:t>		</a:t>
            </a:r>
            <a:br>
              <a:rPr lang="en-IN" dirty="0"/>
            </a:br>
            <a:endParaRPr lang="en-IN" dirty="0"/>
          </a:p>
        </p:txBody>
      </p:sp>
      <p:sp>
        <p:nvSpPr>
          <p:cNvPr id="3" name="Content Placeholder 2"/>
          <p:cNvSpPr>
            <a:spLocks noGrp="1"/>
          </p:cNvSpPr>
          <p:nvPr>
            <p:ph idx="1"/>
          </p:nvPr>
        </p:nvSpPr>
        <p:spPr/>
        <p:txBody>
          <a:bodyPr/>
          <a:lstStyle/>
          <a:p>
            <a:r>
              <a:rPr lang="en-IN" dirty="0"/>
              <a:t>Python Functions: Defining functions – DOC strings – function Parameters: Default, keyword required and variable length arguments, key-word only parameters – local and global variables – pass by reference versus value – recursion – Functional Programming: Mapping – filtering and reduction – Lambda functions – list comprehensions. 	</a:t>
            </a:r>
          </a:p>
        </p:txBody>
      </p:sp>
    </p:spTree>
    <p:extLst>
      <p:ext uri="{BB962C8B-B14F-4D97-AF65-F5344CB8AC3E}">
        <p14:creationId xmlns:p14="http://schemas.microsoft.com/office/powerpoint/2010/main" val="4219396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99CC1E-AC5E-29A1-1EFD-215A4A923D02}"/>
              </a:ext>
            </a:extLst>
          </p:cNvPr>
          <p:cNvSpPr>
            <a:spLocks noGrp="1"/>
          </p:cNvSpPr>
          <p:nvPr>
            <p:ph type="title"/>
          </p:nvPr>
        </p:nvSpPr>
        <p:spPr/>
        <p:txBody>
          <a:bodyPr/>
          <a:lstStyle/>
          <a:p>
            <a:r>
              <a:rPr lang="en-IN" dirty="0"/>
              <a:t>Function in Python</a:t>
            </a:r>
            <a:endParaRPr lang="en-GB" dirty="0"/>
          </a:p>
        </p:txBody>
      </p:sp>
      <p:sp>
        <p:nvSpPr>
          <p:cNvPr id="3" name="Content Placeholder 2">
            <a:extLst>
              <a:ext uri="{FF2B5EF4-FFF2-40B4-BE49-F238E27FC236}">
                <a16:creationId xmlns:a16="http://schemas.microsoft.com/office/drawing/2014/main" xmlns="" id="{F10B9E39-B0E7-5BAD-40A7-BA9F16DAFB7A}"/>
              </a:ext>
            </a:extLst>
          </p:cNvPr>
          <p:cNvSpPr>
            <a:spLocks noGrp="1"/>
          </p:cNvSpPr>
          <p:nvPr>
            <p:ph idx="1"/>
          </p:nvPr>
        </p:nvSpPr>
        <p:spPr/>
        <p:txBody>
          <a:bodyPr>
            <a:normAutofit/>
          </a:bodyPr>
          <a:lstStyle/>
          <a:p>
            <a:pPr algn="l" rtl="0" fontAlgn="base"/>
            <a:r>
              <a:rPr lang="en-GB" i="0" dirty="0">
                <a:effectLst/>
                <a:latin typeface="Nunito" pitchFamily="2" charset="0"/>
              </a:rPr>
              <a:t>Python Functions </a:t>
            </a:r>
            <a:r>
              <a:rPr lang="en-GB" b="0" i="0" dirty="0">
                <a:effectLst/>
                <a:latin typeface="Nunito" pitchFamily="2" charset="0"/>
              </a:rPr>
              <a:t>is a block of statements that return the specific task. The idea is to put some commonly or repeatedly done tasks together and make a function so that instead of writing the same code again and again for different inputs, we can do the function calls to reuse code contained in it repeatedly</a:t>
            </a:r>
            <a:r>
              <a:rPr lang="en-GB" b="0" i="0" dirty="0" smtClean="0">
                <a:effectLst/>
                <a:latin typeface="Nunito" pitchFamily="2" charset="0"/>
              </a:rPr>
              <a:t>.</a:t>
            </a:r>
          </a:p>
          <a:p>
            <a:pPr algn="just" fontAlgn="base"/>
            <a:r>
              <a:rPr lang="en-IN" sz="2400" dirty="0">
                <a:latin typeface="Times New Roman" panose="02020603050405020304" pitchFamily="18" charset="0"/>
                <a:cs typeface="Times New Roman" panose="02020603050405020304" pitchFamily="18" charset="0"/>
              </a:rPr>
              <a:t>A</a:t>
            </a:r>
            <a:r>
              <a:rPr lang="en-IN" sz="2400" dirty="0" smtClean="0">
                <a:latin typeface="Times New Roman" panose="02020603050405020304" pitchFamily="18" charset="0"/>
                <a:cs typeface="Times New Roman" panose="02020603050405020304" pitchFamily="18" charset="0"/>
              </a:rPr>
              <a:t> function is a reusable block of code that performs a specific task. Functions help to organize your code into manageable, modular sections, making it easier to read, debug, and maintain.</a:t>
            </a:r>
            <a:endParaRPr lang="en-GB" sz="2400" i="0" dirty="0">
              <a:effectLst/>
              <a:latin typeface="Times New Roman" panose="02020603050405020304" pitchFamily="18" charset="0"/>
              <a:cs typeface="Times New Roman" panose="02020603050405020304" pitchFamily="18" charset="0"/>
            </a:endParaRPr>
          </a:p>
          <a:p>
            <a:pPr algn="l" rtl="0" fontAlgn="base"/>
            <a:r>
              <a:rPr lang="en-GB" i="0" dirty="0">
                <a:effectLst/>
                <a:latin typeface="Nunito" pitchFamily="2" charset="0"/>
              </a:rPr>
              <a:t>Some Benefits of Using Functions</a:t>
            </a:r>
          </a:p>
          <a:p>
            <a:pPr marL="0" indent="0" algn="l" fontAlgn="base">
              <a:buNone/>
            </a:pPr>
            <a:r>
              <a:rPr lang="en-GB" b="0" i="0" dirty="0">
                <a:effectLst/>
                <a:latin typeface="Nunito" pitchFamily="2" charset="0"/>
              </a:rPr>
              <a:t>          Increase Code Readability </a:t>
            </a:r>
          </a:p>
          <a:p>
            <a:pPr marL="0" indent="0" algn="l" fontAlgn="base">
              <a:buNone/>
            </a:pPr>
            <a:r>
              <a:rPr lang="en-GB" b="0" i="0" dirty="0">
                <a:effectLst/>
                <a:latin typeface="Nunito" pitchFamily="2" charset="0"/>
              </a:rPr>
              <a:t>          Increase Code Reusability</a:t>
            </a:r>
          </a:p>
          <a:p>
            <a:pPr marL="0" indent="0">
              <a:buNone/>
            </a:pPr>
            <a:endParaRPr lang="en-GB" dirty="0"/>
          </a:p>
        </p:txBody>
      </p:sp>
    </p:spTree>
    <p:extLst>
      <p:ext uri="{BB962C8B-B14F-4D97-AF65-F5344CB8AC3E}">
        <p14:creationId xmlns:p14="http://schemas.microsoft.com/office/powerpoint/2010/main" val="1630449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D7202E-13E3-FFB1-3CE1-34D8C3162B0E}"/>
              </a:ext>
            </a:extLst>
          </p:cNvPr>
          <p:cNvSpPr>
            <a:spLocks noGrp="1"/>
          </p:cNvSpPr>
          <p:nvPr>
            <p:ph type="title"/>
          </p:nvPr>
        </p:nvSpPr>
        <p:spPr/>
        <p:txBody>
          <a:bodyPr>
            <a:normAutofit/>
          </a:bodyPr>
          <a:lstStyle/>
          <a:p>
            <a:r>
              <a:rPr lang="en-IN" sz="2800" dirty="0"/>
              <a:t>Functions declaration and types in Python</a:t>
            </a:r>
            <a:endParaRPr lang="en-GB" sz="2800" dirty="0"/>
          </a:p>
        </p:txBody>
      </p:sp>
      <p:pic>
        <p:nvPicPr>
          <p:cNvPr id="6" name="Content Placeholder 5">
            <a:extLst>
              <a:ext uri="{FF2B5EF4-FFF2-40B4-BE49-F238E27FC236}">
                <a16:creationId xmlns:a16="http://schemas.microsoft.com/office/drawing/2014/main" xmlns="" id="{AC1E10E4-D296-E8B5-9006-B849E2B12E39}"/>
              </a:ext>
            </a:extLst>
          </p:cNvPr>
          <p:cNvPicPr>
            <a:picLocks noGrp="1" noChangeAspect="1"/>
          </p:cNvPicPr>
          <p:nvPr>
            <p:ph sz="half" idx="1"/>
          </p:nvPr>
        </p:nvPicPr>
        <p:blipFill>
          <a:blip r:embed="rId2"/>
          <a:stretch>
            <a:fillRect/>
          </a:stretch>
        </p:blipFill>
        <p:spPr>
          <a:xfrm>
            <a:off x="1447800" y="2264898"/>
            <a:ext cx="4645025" cy="2858159"/>
          </a:xfrm>
        </p:spPr>
      </p:pic>
      <p:pic>
        <p:nvPicPr>
          <p:cNvPr id="8" name="Content Placeholder 7">
            <a:extLst>
              <a:ext uri="{FF2B5EF4-FFF2-40B4-BE49-F238E27FC236}">
                <a16:creationId xmlns:a16="http://schemas.microsoft.com/office/drawing/2014/main" xmlns="" id="{D1B732E0-8975-3407-44BB-C5E5B0341FE5}"/>
              </a:ext>
            </a:extLst>
          </p:cNvPr>
          <p:cNvPicPr>
            <a:picLocks noGrp="1" noChangeAspect="1"/>
          </p:cNvPicPr>
          <p:nvPr>
            <p:ph sz="half" idx="2"/>
          </p:nvPr>
        </p:nvPicPr>
        <p:blipFill>
          <a:blip r:embed="rId3"/>
          <a:stretch>
            <a:fillRect/>
          </a:stretch>
        </p:blipFill>
        <p:spPr>
          <a:xfrm>
            <a:off x="6413500" y="2264899"/>
            <a:ext cx="4645025" cy="2858160"/>
          </a:xfrm>
        </p:spPr>
      </p:pic>
    </p:spTree>
    <p:extLst>
      <p:ext uri="{BB962C8B-B14F-4D97-AF65-F5344CB8AC3E}">
        <p14:creationId xmlns:p14="http://schemas.microsoft.com/office/powerpoint/2010/main" val="1677760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idx="1"/>
          </p:nvPr>
        </p:nvSpPr>
        <p:spPr>
          <a:xfrm>
            <a:off x="838200" y="1825625"/>
            <a:ext cx="5511085" cy="4351338"/>
          </a:xfrm>
        </p:spPr>
        <p:txBody>
          <a:bodyPr/>
          <a:lstStyle/>
          <a:p>
            <a:r>
              <a:rPr lang="en-IN" dirty="0" err="1" smtClean="0"/>
              <a:t>def</a:t>
            </a:r>
            <a:r>
              <a:rPr lang="en-IN" dirty="0" smtClean="0"/>
              <a:t> greet(name):</a:t>
            </a:r>
          </a:p>
          <a:p>
            <a:r>
              <a:rPr lang="en-IN" dirty="0" smtClean="0"/>
              <a:t>    print(</a:t>
            </a:r>
            <a:r>
              <a:rPr lang="en-IN" dirty="0" err="1" smtClean="0"/>
              <a:t>f"Hello</a:t>
            </a:r>
            <a:r>
              <a:rPr lang="en-IN" dirty="0" smtClean="0"/>
              <a:t>, {name}!")</a:t>
            </a:r>
          </a:p>
          <a:p>
            <a:r>
              <a:rPr lang="en-IN" dirty="0" smtClean="0"/>
              <a:t>greet("Alice")</a:t>
            </a:r>
          </a:p>
          <a:p>
            <a:endParaRPr lang="en-IN" dirty="0"/>
          </a:p>
        </p:txBody>
      </p:sp>
      <p:sp>
        <p:nvSpPr>
          <p:cNvPr id="4" name="TextBox 3"/>
          <p:cNvSpPr txBox="1"/>
          <p:nvPr/>
        </p:nvSpPr>
        <p:spPr>
          <a:xfrm>
            <a:off x="6697014" y="1249251"/>
            <a:ext cx="5396248" cy="4524315"/>
          </a:xfrm>
          <a:prstGeom prst="rect">
            <a:avLst/>
          </a:prstGeom>
          <a:noFill/>
        </p:spPr>
        <p:txBody>
          <a:bodyPr wrap="square" rtlCol="0">
            <a:spAutoFit/>
          </a:bodyPr>
          <a:lstStyle/>
          <a:p>
            <a:r>
              <a:rPr lang="en-IN" sz="2400" dirty="0"/>
              <a:t>I</a:t>
            </a:r>
            <a:r>
              <a:rPr lang="en-IN" sz="2400" dirty="0" smtClean="0"/>
              <a:t>n </a:t>
            </a:r>
            <a:r>
              <a:rPr lang="en-IN" sz="2400" dirty="0"/>
              <a:t>this example</a:t>
            </a:r>
            <a:r>
              <a:rPr lang="en-IN" sz="2400" dirty="0" smtClean="0"/>
              <a:t>:</a:t>
            </a:r>
          </a:p>
          <a:p>
            <a:pPr marL="285750" indent="-285750">
              <a:buFont typeface="Arial" panose="020B0604020202020204" pitchFamily="34" charset="0"/>
              <a:buChar char="•"/>
            </a:pPr>
            <a:r>
              <a:rPr lang="en-IN" sz="2400" dirty="0" err="1" smtClean="0"/>
              <a:t>def</a:t>
            </a:r>
            <a:r>
              <a:rPr lang="en-IN" sz="2400" dirty="0" smtClean="0"/>
              <a:t> </a:t>
            </a:r>
            <a:r>
              <a:rPr lang="en-IN" sz="2400" dirty="0"/>
              <a:t>is the keyword used to define a </a:t>
            </a:r>
            <a:r>
              <a:rPr lang="en-IN" sz="2400" dirty="0" err="1"/>
              <a:t>function.greet</a:t>
            </a:r>
            <a:r>
              <a:rPr lang="en-IN" sz="2400" dirty="0"/>
              <a:t> is the name of the function</a:t>
            </a:r>
            <a:r>
              <a:rPr lang="en-IN" sz="2400" dirty="0" smtClean="0"/>
              <a:t>.</a:t>
            </a:r>
          </a:p>
          <a:p>
            <a:pPr marL="285750" indent="-285750">
              <a:buFont typeface="Arial" panose="020B0604020202020204" pitchFamily="34" charset="0"/>
              <a:buChar char="•"/>
            </a:pPr>
            <a:r>
              <a:rPr lang="en-IN" sz="2400" dirty="0" smtClean="0"/>
              <a:t>(</a:t>
            </a:r>
            <a:r>
              <a:rPr lang="en-IN" sz="2400" dirty="0"/>
              <a:t>name) is the parameter the function takes</a:t>
            </a:r>
            <a:r>
              <a:rPr lang="en-IN" sz="2400" dirty="0" smtClean="0"/>
              <a:t>.</a:t>
            </a:r>
          </a:p>
          <a:p>
            <a:pPr marL="285750" indent="-285750">
              <a:buFont typeface="Arial" panose="020B0604020202020204" pitchFamily="34" charset="0"/>
              <a:buChar char="•"/>
            </a:pPr>
            <a:r>
              <a:rPr lang="en-IN" sz="2400" dirty="0" smtClean="0"/>
              <a:t>The </a:t>
            </a:r>
            <a:r>
              <a:rPr lang="en-IN" sz="2400" dirty="0"/>
              <a:t>code inside the function (in this case, print(</a:t>
            </a:r>
            <a:r>
              <a:rPr lang="en-IN" sz="2400" dirty="0" err="1"/>
              <a:t>f"Hello</a:t>
            </a:r>
            <a:r>
              <a:rPr lang="en-IN" sz="2400" dirty="0"/>
              <a:t>, {name}!")) is what the function does</a:t>
            </a:r>
            <a:r>
              <a:rPr lang="en-IN" sz="2400" dirty="0" smtClean="0"/>
              <a:t>.</a:t>
            </a:r>
          </a:p>
          <a:p>
            <a:pPr marL="285750" indent="-285750">
              <a:buFont typeface="Arial" panose="020B0604020202020204" pitchFamily="34" charset="0"/>
              <a:buChar char="•"/>
            </a:pPr>
            <a:r>
              <a:rPr lang="en-IN" sz="2400" dirty="0" smtClean="0"/>
              <a:t>The </a:t>
            </a:r>
            <a:r>
              <a:rPr lang="en-IN" sz="2400" dirty="0"/>
              <a:t>function is called with greet("Alice"), which outputs: Hello, Alice!.</a:t>
            </a:r>
          </a:p>
        </p:txBody>
      </p:sp>
    </p:spTree>
    <p:extLst>
      <p:ext uri="{BB962C8B-B14F-4D97-AF65-F5344CB8AC3E}">
        <p14:creationId xmlns:p14="http://schemas.microsoft.com/office/powerpoint/2010/main" val="1682873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idx="1"/>
          </p:nvPr>
        </p:nvSpPr>
        <p:spPr/>
        <p:txBody>
          <a:bodyPr/>
          <a:lstStyle/>
          <a:p>
            <a:r>
              <a:rPr lang="en-IN" dirty="0" err="1" smtClean="0"/>
              <a:t>def</a:t>
            </a:r>
            <a:r>
              <a:rPr lang="en-IN" dirty="0" smtClean="0"/>
              <a:t> add(a, b):</a:t>
            </a:r>
          </a:p>
          <a:p>
            <a:r>
              <a:rPr lang="en-IN" dirty="0" smtClean="0"/>
              <a:t>    return a + b</a:t>
            </a:r>
          </a:p>
          <a:p>
            <a:r>
              <a:rPr lang="en-IN" dirty="0" smtClean="0"/>
              <a:t>result = add(3, 5)</a:t>
            </a:r>
          </a:p>
          <a:p>
            <a:r>
              <a:rPr lang="en-IN" dirty="0" smtClean="0"/>
              <a:t>print(result) </a:t>
            </a:r>
          </a:p>
          <a:p>
            <a:endParaRPr lang="en-IN" dirty="0"/>
          </a:p>
          <a:p>
            <a:r>
              <a:rPr lang="en-IN" dirty="0" smtClean="0"/>
              <a:t> # Output: 8</a:t>
            </a:r>
          </a:p>
          <a:p>
            <a:r>
              <a:rPr lang="en-IN" dirty="0" smtClean="0"/>
              <a:t>add function takes two parameters, a and b, adds them, and returns the result.</a:t>
            </a:r>
            <a:endParaRPr lang="en-IN" dirty="0"/>
          </a:p>
        </p:txBody>
      </p:sp>
    </p:spTree>
    <p:extLst>
      <p:ext uri="{BB962C8B-B14F-4D97-AF65-F5344CB8AC3E}">
        <p14:creationId xmlns:p14="http://schemas.microsoft.com/office/powerpoint/2010/main" val="3121251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idx="1"/>
          </p:nvPr>
        </p:nvSpPr>
        <p:spPr>
          <a:xfrm>
            <a:off x="485104" y="1489656"/>
            <a:ext cx="5198772" cy="4876800"/>
          </a:xfrm>
        </p:spPr>
        <p:txBody>
          <a:bodyPr>
            <a:normAutofit fontScale="70000" lnSpcReduction="20000"/>
          </a:bodyPr>
          <a:lstStyle/>
          <a:p>
            <a:pPr marL="0" indent="0">
              <a:buNone/>
            </a:pPr>
            <a:r>
              <a:rPr lang="en-IN" dirty="0"/>
              <a:t># Define a function that adds two numbers</a:t>
            </a:r>
          </a:p>
          <a:p>
            <a:pPr marL="0" indent="0">
              <a:buNone/>
            </a:pPr>
            <a:r>
              <a:rPr lang="en-IN" dirty="0" err="1"/>
              <a:t>def</a:t>
            </a:r>
            <a:r>
              <a:rPr lang="en-IN" dirty="0"/>
              <a:t> </a:t>
            </a:r>
            <a:r>
              <a:rPr lang="en-IN" dirty="0" err="1"/>
              <a:t>add_numbers</a:t>
            </a:r>
            <a:r>
              <a:rPr lang="en-IN" dirty="0"/>
              <a:t>(num1, num2):</a:t>
            </a:r>
          </a:p>
          <a:p>
            <a:pPr marL="0" indent="0">
              <a:buNone/>
            </a:pPr>
            <a:r>
              <a:rPr lang="en-IN" dirty="0"/>
              <a:t>    return num1 + num2</a:t>
            </a:r>
          </a:p>
          <a:p>
            <a:pPr marL="0" indent="0">
              <a:buNone/>
            </a:pPr>
            <a:endParaRPr lang="en-IN" dirty="0"/>
          </a:p>
          <a:p>
            <a:pPr marL="0" indent="0">
              <a:buNone/>
            </a:pPr>
            <a:r>
              <a:rPr lang="en-IN" dirty="0"/>
              <a:t># Define a function that subtracts two numbers</a:t>
            </a:r>
          </a:p>
          <a:p>
            <a:pPr marL="0" indent="0">
              <a:buNone/>
            </a:pPr>
            <a:r>
              <a:rPr lang="en-IN" dirty="0" err="1"/>
              <a:t>def</a:t>
            </a:r>
            <a:r>
              <a:rPr lang="en-IN" dirty="0"/>
              <a:t> </a:t>
            </a:r>
            <a:r>
              <a:rPr lang="en-IN" dirty="0" err="1"/>
              <a:t>subtract_numbers</a:t>
            </a:r>
            <a:r>
              <a:rPr lang="en-IN" dirty="0"/>
              <a:t>(num1, num2):</a:t>
            </a:r>
          </a:p>
          <a:p>
            <a:pPr marL="0" indent="0">
              <a:buNone/>
            </a:pPr>
            <a:r>
              <a:rPr lang="en-IN" dirty="0"/>
              <a:t>    return num1 - num2</a:t>
            </a:r>
          </a:p>
          <a:p>
            <a:pPr marL="0" indent="0">
              <a:buNone/>
            </a:pPr>
            <a:endParaRPr lang="en-IN" dirty="0"/>
          </a:p>
          <a:p>
            <a:pPr marL="0" indent="0">
              <a:buNone/>
            </a:pPr>
            <a:r>
              <a:rPr lang="en-IN" dirty="0"/>
              <a:t># Define a function that multiplies two numbers</a:t>
            </a:r>
          </a:p>
          <a:p>
            <a:pPr marL="0" indent="0">
              <a:buNone/>
            </a:pPr>
            <a:r>
              <a:rPr lang="en-IN" dirty="0" err="1"/>
              <a:t>def</a:t>
            </a:r>
            <a:r>
              <a:rPr lang="en-IN" dirty="0"/>
              <a:t> </a:t>
            </a:r>
            <a:r>
              <a:rPr lang="en-IN" dirty="0" err="1"/>
              <a:t>multiply_numbers</a:t>
            </a:r>
            <a:r>
              <a:rPr lang="en-IN" dirty="0"/>
              <a:t>(num1, num2):</a:t>
            </a:r>
          </a:p>
          <a:p>
            <a:pPr marL="0" indent="0">
              <a:buNone/>
            </a:pPr>
            <a:r>
              <a:rPr lang="en-IN" dirty="0"/>
              <a:t>    return num1 * num2</a:t>
            </a:r>
          </a:p>
          <a:p>
            <a:pPr marL="0" indent="0">
              <a:buNone/>
            </a:pPr>
            <a:endParaRPr lang="en-IN" dirty="0"/>
          </a:p>
          <a:p>
            <a:pPr marL="0" indent="0">
              <a:buNone/>
            </a:pPr>
            <a:r>
              <a:rPr lang="en-IN" dirty="0"/>
              <a:t># Define a function that divides two numbers</a:t>
            </a:r>
          </a:p>
          <a:p>
            <a:pPr marL="0" indent="0">
              <a:buNone/>
            </a:pPr>
            <a:r>
              <a:rPr lang="en-IN" dirty="0" err="1"/>
              <a:t>def</a:t>
            </a:r>
            <a:r>
              <a:rPr lang="en-IN" dirty="0"/>
              <a:t> </a:t>
            </a:r>
            <a:r>
              <a:rPr lang="en-IN" dirty="0" err="1"/>
              <a:t>divide_numbers</a:t>
            </a:r>
            <a:r>
              <a:rPr lang="en-IN" dirty="0"/>
              <a:t>(num1, num2):</a:t>
            </a:r>
          </a:p>
          <a:p>
            <a:pPr marL="0" indent="0">
              <a:buNone/>
            </a:pPr>
            <a:r>
              <a:rPr lang="en-IN" dirty="0"/>
              <a:t>    if num2 == 0:</a:t>
            </a:r>
          </a:p>
          <a:p>
            <a:pPr marL="0" indent="0">
              <a:buNone/>
            </a:pPr>
            <a:r>
              <a:rPr lang="en-IN" dirty="0"/>
              <a:t>        return "Error: Division by zero is not allowed"</a:t>
            </a:r>
          </a:p>
          <a:p>
            <a:pPr marL="0" indent="0">
              <a:buNone/>
            </a:pPr>
            <a:r>
              <a:rPr lang="en-IN" dirty="0"/>
              <a:t>    else:</a:t>
            </a:r>
          </a:p>
          <a:p>
            <a:pPr marL="0" indent="0">
              <a:buNone/>
            </a:pPr>
            <a:r>
              <a:rPr lang="en-IN" dirty="0"/>
              <a:t>        return num1 / num2</a:t>
            </a:r>
          </a:p>
          <a:p>
            <a:endParaRPr lang="en-IN" dirty="0"/>
          </a:p>
          <a:p>
            <a:endParaRPr lang="en-IN" dirty="0"/>
          </a:p>
        </p:txBody>
      </p:sp>
      <p:sp>
        <p:nvSpPr>
          <p:cNvPr id="5" name="TextBox 4"/>
          <p:cNvSpPr txBox="1"/>
          <p:nvPr/>
        </p:nvSpPr>
        <p:spPr>
          <a:xfrm>
            <a:off x="5937161" y="257578"/>
            <a:ext cx="5769735" cy="7017306"/>
          </a:xfrm>
          <a:prstGeom prst="rect">
            <a:avLst/>
          </a:prstGeom>
          <a:noFill/>
        </p:spPr>
        <p:txBody>
          <a:bodyPr wrap="square" rtlCol="0">
            <a:spAutoFit/>
          </a:bodyPr>
          <a:lstStyle/>
          <a:p>
            <a:r>
              <a:rPr lang="en-IN" dirty="0"/>
              <a:t># Main part of the program</a:t>
            </a:r>
          </a:p>
          <a:p>
            <a:r>
              <a:rPr lang="en-IN" dirty="0" err="1"/>
              <a:t>def</a:t>
            </a:r>
            <a:r>
              <a:rPr lang="en-IN" dirty="0"/>
              <a:t> main():</a:t>
            </a:r>
          </a:p>
          <a:p>
            <a:r>
              <a:rPr lang="en-IN" dirty="0"/>
              <a:t>    # Call the </a:t>
            </a:r>
            <a:r>
              <a:rPr lang="en-IN" dirty="0" err="1"/>
              <a:t>add_numbers</a:t>
            </a:r>
            <a:r>
              <a:rPr lang="en-IN" dirty="0"/>
              <a:t> function</a:t>
            </a:r>
          </a:p>
          <a:p>
            <a:r>
              <a:rPr lang="en-IN" dirty="0"/>
              <a:t>    </a:t>
            </a:r>
            <a:r>
              <a:rPr lang="en-IN" dirty="0" err="1"/>
              <a:t>sum_result</a:t>
            </a:r>
            <a:r>
              <a:rPr lang="en-IN" dirty="0"/>
              <a:t> = </a:t>
            </a:r>
            <a:r>
              <a:rPr lang="en-IN" dirty="0" err="1"/>
              <a:t>add_numbers</a:t>
            </a:r>
            <a:r>
              <a:rPr lang="en-IN" dirty="0"/>
              <a:t>(10, 5)</a:t>
            </a:r>
          </a:p>
          <a:p>
            <a:r>
              <a:rPr lang="en-IN" dirty="0"/>
              <a:t>    print("Sum: ", </a:t>
            </a:r>
            <a:r>
              <a:rPr lang="en-IN" dirty="0" err="1"/>
              <a:t>sum_result</a:t>
            </a:r>
            <a:r>
              <a:rPr lang="en-IN" dirty="0"/>
              <a:t>)</a:t>
            </a:r>
          </a:p>
          <a:p>
            <a:endParaRPr lang="en-IN" dirty="0"/>
          </a:p>
          <a:p>
            <a:r>
              <a:rPr lang="en-IN" dirty="0"/>
              <a:t>    # Call the </a:t>
            </a:r>
            <a:r>
              <a:rPr lang="en-IN" dirty="0" err="1"/>
              <a:t>subtract_numbers</a:t>
            </a:r>
            <a:r>
              <a:rPr lang="en-IN" dirty="0"/>
              <a:t> function</a:t>
            </a:r>
          </a:p>
          <a:p>
            <a:r>
              <a:rPr lang="en-IN" dirty="0"/>
              <a:t>    </a:t>
            </a:r>
            <a:r>
              <a:rPr lang="en-IN" dirty="0" err="1"/>
              <a:t>difference_result</a:t>
            </a:r>
            <a:r>
              <a:rPr lang="en-IN" dirty="0"/>
              <a:t> = </a:t>
            </a:r>
            <a:r>
              <a:rPr lang="en-IN" dirty="0" err="1"/>
              <a:t>subtract_numbers</a:t>
            </a:r>
            <a:r>
              <a:rPr lang="en-IN" dirty="0"/>
              <a:t>(10, 5)</a:t>
            </a:r>
          </a:p>
          <a:p>
            <a:r>
              <a:rPr lang="en-IN" dirty="0"/>
              <a:t>    print("Difference: ", </a:t>
            </a:r>
            <a:r>
              <a:rPr lang="en-IN" dirty="0" err="1"/>
              <a:t>difference_result</a:t>
            </a:r>
            <a:r>
              <a:rPr lang="en-IN" dirty="0"/>
              <a:t>)</a:t>
            </a:r>
          </a:p>
          <a:p>
            <a:endParaRPr lang="en-IN" dirty="0"/>
          </a:p>
          <a:p>
            <a:r>
              <a:rPr lang="en-IN" dirty="0"/>
              <a:t>    # Call the </a:t>
            </a:r>
            <a:r>
              <a:rPr lang="en-IN" dirty="0" err="1"/>
              <a:t>multiply_numbers</a:t>
            </a:r>
            <a:r>
              <a:rPr lang="en-IN" dirty="0"/>
              <a:t> function</a:t>
            </a:r>
          </a:p>
          <a:p>
            <a:r>
              <a:rPr lang="en-IN" dirty="0"/>
              <a:t>    </a:t>
            </a:r>
            <a:r>
              <a:rPr lang="en-IN" dirty="0" err="1"/>
              <a:t>product_result</a:t>
            </a:r>
            <a:r>
              <a:rPr lang="en-IN" dirty="0"/>
              <a:t> = </a:t>
            </a:r>
            <a:r>
              <a:rPr lang="en-IN" dirty="0" err="1"/>
              <a:t>multiply_numbers</a:t>
            </a:r>
            <a:r>
              <a:rPr lang="en-IN" dirty="0"/>
              <a:t>(10, 5)</a:t>
            </a:r>
          </a:p>
          <a:p>
            <a:r>
              <a:rPr lang="en-IN" dirty="0"/>
              <a:t>    print("Product: ", </a:t>
            </a:r>
            <a:r>
              <a:rPr lang="en-IN" dirty="0" err="1"/>
              <a:t>product_result</a:t>
            </a:r>
            <a:r>
              <a:rPr lang="en-IN" dirty="0"/>
              <a:t>)</a:t>
            </a:r>
          </a:p>
          <a:p>
            <a:endParaRPr lang="en-IN" dirty="0"/>
          </a:p>
          <a:p>
            <a:r>
              <a:rPr lang="en-IN" dirty="0"/>
              <a:t>    # Call the </a:t>
            </a:r>
            <a:r>
              <a:rPr lang="en-IN" dirty="0" err="1"/>
              <a:t>divide_numbers</a:t>
            </a:r>
            <a:r>
              <a:rPr lang="en-IN" dirty="0"/>
              <a:t> function</a:t>
            </a:r>
          </a:p>
          <a:p>
            <a:r>
              <a:rPr lang="en-IN" dirty="0"/>
              <a:t>    </a:t>
            </a:r>
            <a:r>
              <a:rPr lang="en-IN" dirty="0" err="1"/>
              <a:t>division_result</a:t>
            </a:r>
            <a:r>
              <a:rPr lang="en-IN" dirty="0"/>
              <a:t> = </a:t>
            </a:r>
            <a:r>
              <a:rPr lang="en-IN" dirty="0" err="1"/>
              <a:t>divide_numbers</a:t>
            </a:r>
            <a:r>
              <a:rPr lang="en-IN" dirty="0"/>
              <a:t>(10, 5)</a:t>
            </a:r>
          </a:p>
          <a:p>
            <a:r>
              <a:rPr lang="en-IN" dirty="0"/>
              <a:t>    print("Division: ", </a:t>
            </a:r>
            <a:r>
              <a:rPr lang="en-IN" dirty="0" err="1"/>
              <a:t>division_result</a:t>
            </a:r>
            <a:r>
              <a:rPr lang="en-IN" dirty="0"/>
              <a:t>)</a:t>
            </a:r>
          </a:p>
          <a:p>
            <a:endParaRPr lang="en-IN" dirty="0"/>
          </a:p>
          <a:p>
            <a:r>
              <a:rPr lang="en-IN" dirty="0"/>
              <a:t>    # Attempting division by zero</a:t>
            </a:r>
          </a:p>
          <a:p>
            <a:r>
              <a:rPr lang="en-IN" dirty="0"/>
              <a:t>    </a:t>
            </a:r>
            <a:r>
              <a:rPr lang="en-IN" dirty="0" err="1"/>
              <a:t>division_by_zero_result</a:t>
            </a:r>
            <a:r>
              <a:rPr lang="en-IN" dirty="0"/>
              <a:t> = </a:t>
            </a:r>
            <a:r>
              <a:rPr lang="en-IN" dirty="0" err="1"/>
              <a:t>divide_numbers</a:t>
            </a:r>
            <a:r>
              <a:rPr lang="en-IN" dirty="0"/>
              <a:t>(10, 0)</a:t>
            </a:r>
          </a:p>
          <a:p>
            <a:r>
              <a:rPr lang="en-IN" dirty="0"/>
              <a:t>    print("Division by Zero: ", </a:t>
            </a:r>
            <a:r>
              <a:rPr lang="en-IN" dirty="0" err="1"/>
              <a:t>division_by_zero_result</a:t>
            </a:r>
            <a:r>
              <a:rPr lang="en-IN" dirty="0"/>
              <a:t>)</a:t>
            </a:r>
          </a:p>
          <a:p>
            <a:endParaRPr lang="en-IN" dirty="0"/>
          </a:p>
          <a:p>
            <a:r>
              <a:rPr lang="en-IN" dirty="0"/>
              <a:t># Call the main function to execute the program</a:t>
            </a:r>
          </a:p>
          <a:p>
            <a:r>
              <a:rPr lang="en-IN" dirty="0"/>
              <a:t>main()</a:t>
            </a:r>
          </a:p>
          <a:p>
            <a:endParaRPr lang="en-IN" dirty="0"/>
          </a:p>
        </p:txBody>
      </p:sp>
    </p:spTree>
    <p:extLst>
      <p:ext uri="{BB962C8B-B14F-4D97-AF65-F5344CB8AC3E}">
        <p14:creationId xmlns:p14="http://schemas.microsoft.com/office/powerpoint/2010/main" val="1975419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Output</a:t>
            </a:r>
            <a:endParaRPr lang="en-IN" dirty="0"/>
          </a:p>
        </p:txBody>
      </p:sp>
      <p:sp>
        <p:nvSpPr>
          <p:cNvPr id="3" name="Content Placeholder 2"/>
          <p:cNvSpPr>
            <a:spLocks noGrp="1"/>
          </p:cNvSpPr>
          <p:nvPr>
            <p:ph idx="1"/>
          </p:nvPr>
        </p:nvSpPr>
        <p:spPr/>
        <p:txBody>
          <a:bodyPr/>
          <a:lstStyle/>
          <a:p>
            <a:pPr marL="0" indent="0">
              <a:buNone/>
            </a:pPr>
            <a:r>
              <a:rPr lang="en-IN" dirty="0"/>
              <a:t>Sum:  15</a:t>
            </a:r>
          </a:p>
          <a:p>
            <a:pPr marL="0" indent="0">
              <a:buNone/>
            </a:pPr>
            <a:r>
              <a:rPr lang="en-IN" dirty="0"/>
              <a:t>Difference:  5</a:t>
            </a:r>
          </a:p>
          <a:p>
            <a:pPr marL="0" indent="0">
              <a:buNone/>
            </a:pPr>
            <a:r>
              <a:rPr lang="en-IN" dirty="0"/>
              <a:t>Product:  50</a:t>
            </a:r>
          </a:p>
          <a:p>
            <a:pPr marL="0" indent="0">
              <a:buNone/>
            </a:pPr>
            <a:r>
              <a:rPr lang="en-IN" dirty="0"/>
              <a:t>Division:  2.0</a:t>
            </a:r>
          </a:p>
          <a:p>
            <a:pPr marL="0" indent="0">
              <a:buNone/>
            </a:pPr>
            <a:r>
              <a:rPr lang="en-IN" dirty="0"/>
              <a:t>Division by Zero:  Error: Division by zero is not allowed</a:t>
            </a:r>
          </a:p>
          <a:p>
            <a:pPr marL="0" indent="0">
              <a:buNone/>
            </a:pPr>
            <a:r>
              <a:rPr lang="en-IN" dirty="0"/>
              <a:t>This example illustrates how functions are defined, called, and used to perform basic arithmetic operations.</a:t>
            </a:r>
          </a:p>
        </p:txBody>
      </p:sp>
    </p:spTree>
    <p:extLst>
      <p:ext uri="{BB962C8B-B14F-4D97-AF65-F5344CB8AC3E}">
        <p14:creationId xmlns:p14="http://schemas.microsoft.com/office/powerpoint/2010/main" val="2096296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F89C09-B724-D638-9464-5F1E845AB600}"/>
              </a:ext>
            </a:extLst>
          </p:cNvPr>
          <p:cNvSpPr>
            <a:spLocks noGrp="1"/>
          </p:cNvSpPr>
          <p:nvPr>
            <p:ph type="title"/>
          </p:nvPr>
        </p:nvSpPr>
        <p:spPr/>
        <p:txBody>
          <a:bodyPr/>
          <a:lstStyle/>
          <a:p>
            <a:r>
              <a:rPr lang="en-IN" dirty="0"/>
              <a:t>Docstring in python</a:t>
            </a:r>
            <a:endParaRPr lang="en-GB" dirty="0"/>
          </a:p>
        </p:txBody>
      </p:sp>
      <p:sp>
        <p:nvSpPr>
          <p:cNvPr id="3" name="Content Placeholder 2">
            <a:extLst>
              <a:ext uri="{FF2B5EF4-FFF2-40B4-BE49-F238E27FC236}">
                <a16:creationId xmlns:a16="http://schemas.microsoft.com/office/drawing/2014/main" xmlns="" id="{7A54F246-E071-D4A1-4701-8387C896A074}"/>
              </a:ext>
            </a:extLst>
          </p:cNvPr>
          <p:cNvSpPr>
            <a:spLocks noGrp="1"/>
          </p:cNvSpPr>
          <p:nvPr>
            <p:ph sz="half" idx="1"/>
          </p:nvPr>
        </p:nvSpPr>
        <p:spPr>
          <a:xfrm>
            <a:off x="1447331" y="2010878"/>
            <a:ext cx="3504497" cy="3448595"/>
          </a:xfrm>
        </p:spPr>
        <p:txBody>
          <a:bodyPr>
            <a:normAutofit fontScale="62500" lnSpcReduction="20000"/>
          </a:bodyPr>
          <a:lstStyle/>
          <a:p>
            <a:pPr algn="just"/>
            <a:r>
              <a:rPr lang="en-IN" dirty="0">
                <a:latin typeface="Nunito" pitchFamily="2" charset="0"/>
              </a:rPr>
              <a:t> </a:t>
            </a:r>
            <a:r>
              <a:rPr lang="en-IN" dirty="0" smtClean="0">
                <a:latin typeface="Nunito" pitchFamily="2" charset="0"/>
              </a:rPr>
              <a:t>A </a:t>
            </a:r>
            <a:r>
              <a:rPr lang="en-IN" dirty="0" err="1" smtClean="0">
                <a:latin typeface="Nunito" pitchFamily="2" charset="0"/>
              </a:rPr>
              <a:t>docstring</a:t>
            </a:r>
            <a:r>
              <a:rPr lang="en-IN" dirty="0" smtClean="0">
                <a:latin typeface="Nunito" pitchFamily="2" charset="0"/>
              </a:rPr>
              <a:t> </a:t>
            </a:r>
            <a:r>
              <a:rPr lang="en-IN" dirty="0">
                <a:latin typeface="Nunito" pitchFamily="2" charset="0"/>
              </a:rPr>
              <a:t>in Python is a string that describes the functionality of a function, class, or module. It is placed right below the function definition and is used to document what the function does, its parameters, and what it returns. </a:t>
            </a:r>
            <a:r>
              <a:rPr lang="en-IN" dirty="0" err="1">
                <a:latin typeface="Nunito" pitchFamily="2" charset="0"/>
              </a:rPr>
              <a:t>Docstrings</a:t>
            </a:r>
            <a:r>
              <a:rPr lang="en-IN" dirty="0">
                <a:latin typeface="Nunito" pitchFamily="2" charset="0"/>
              </a:rPr>
              <a:t> help other developers (or yourself) understand the purpose of the function and how to use it without needing to look at the implementation.</a:t>
            </a:r>
            <a:endParaRPr lang="en-GB" dirty="0"/>
          </a:p>
        </p:txBody>
      </p:sp>
      <p:pic>
        <p:nvPicPr>
          <p:cNvPr id="5" name="Content Placeholder 3">
            <a:extLst>
              <a:ext uri="{FF2B5EF4-FFF2-40B4-BE49-F238E27FC236}">
                <a16:creationId xmlns:a16="http://schemas.microsoft.com/office/drawing/2014/main" xmlns="" id="{4484DAEE-D2A4-0BB4-6163-64973E281D16}"/>
              </a:ext>
            </a:extLst>
          </p:cNvPr>
          <p:cNvPicPr>
            <a:picLocks noGrp="1" noChangeAspect="1"/>
          </p:cNvPicPr>
          <p:nvPr>
            <p:ph sz="half" idx="2"/>
          </p:nvPr>
        </p:nvPicPr>
        <p:blipFill>
          <a:blip r:embed="rId2"/>
          <a:stretch>
            <a:fillRect/>
          </a:stretch>
        </p:blipFill>
        <p:spPr>
          <a:xfrm>
            <a:off x="5106573" y="2010878"/>
            <a:ext cx="6471138" cy="3448595"/>
          </a:xfrm>
          <a:prstGeom prst="rect">
            <a:avLst/>
          </a:prstGeom>
        </p:spPr>
      </p:pic>
    </p:spTree>
    <p:extLst>
      <p:ext uri="{BB962C8B-B14F-4D97-AF65-F5344CB8AC3E}">
        <p14:creationId xmlns:p14="http://schemas.microsoft.com/office/powerpoint/2010/main" val="2385844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Contd</a:t>
            </a:r>
            <a:r>
              <a:rPr lang="en-IN" dirty="0" smtClean="0"/>
              <a:t>…</a:t>
            </a:r>
            <a:endParaRPr lang="en-IN" dirty="0"/>
          </a:p>
        </p:txBody>
      </p:sp>
      <p:sp>
        <p:nvSpPr>
          <p:cNvPr id="3" name="Content Placeholder 2"/>
          <p:cNvSpPr>
            <a:spLocks noGrp="1"/>
          </p:cNvSpPr>
          <p:nvPr>
            <p:ph sz="half" idx="1"/>
          </p:nvPr>
        </p:nvSpPr>
        <p:spPr>
          <a:xfrm>
            <a:off x="609599" y="1673352"/>
            <a:ext cx="11110175" cy="4718304"/>
          </a:xfrm>
        </p:spPr>
        <p:txBody>
          <a:bodyPr>
            <a:normAutofit/>
          </a:bodyPr>
          <a:lstStyle/>
          <a:p>
            <a:pPr algn="just">
              <a:lnSpc>
                <a:spcPct val="170000"/>
              </a:lnSpc>
            </a:pPr>
            <a:r>
              <a:rPr lang="en-IN" dirty="0" smtClean="0"/>
              <a:t>In </a:t>
            </a:r>
            <a:r>
              <a:rPr lang="en-IN" dirty="0"/>
              <a:t>Python, </a:t>
            </a:r>
            <a:r>
              <a:rPr lang="en-IN" dirty="0" err="1"/>
              <a:t>docstrings</a:t>
            </a:r>
            <a:r>
              <a:rPr lang="en-IN" dirty="0"/>
              <a:t> are written using triple quotes (""" or '''), which allow the string to span multiple lines. The syntax and conventions for writing </a:t>
            </a:r>
            <a:r>
              <a:rPr lang="en-IN" dirty="0" err="1"/>
              <a:t>docstrings</a:t>
            </a:r>
            <a:r>
              <a:rPr lang="en-IN" dirty="0"/>
              <a:t> are standardized, although Python allows some flexibility.</a:t>
            </a:r>
          </a:p>
        </p:txBody>
      </p:sp>
    </p:spTree>
    <p:extLst>
      <p:ext uri="{BB962C8B-B14F-4D97-AF65-F5344CB8AC3E}">
        <p14:creationId xmlns:p14="http://schemas.microsoft.com/office/powerpoint/2010/main" val="4051263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Contd</a:t>
            </a:r>
            <a:r>
              <a:rPr lang="en-IN" dirty="0" smtClean="0"/>
              <a:t>…</a:t>
            </a:r>
            <a:endParaRPr lang="en-IN" dirty="0"/>
          </a:p>
        </p:txBody>
      </p:sp>
      <p:sp>
        <p:nvSpPr>
          <p:cNvPr id="3" name="Content Placeholder 2"/>
          <p:cNvSpPr>
            <a:spLocks noGrp="1"/>
          </p:cNvSpPr>
          <p:nvPr>
            <p:ph sz="half" idx="1"/>
          </p:nvPr>
        </p:nvSpPr>
        <p:spPr/>
        <p:txBody>
          <a:bodyPr>
            <a:normAutofit fontScale="55000" lnSpcReduction="20000"/>
          </a:bodyPr>
          <a:lstStyle/>
          <a:p>
            <a:pPr marL="0" indent="0">
              <a:buNone/>
            </a:pPr>
            <a:r>
              <a:rPr lang="en-IN" dirty="0" err="1"/>
              <a:t>def</a:t>
            </a:r>
            <a:r>
              <a:rPr lang="en-IN" dirty="0"/>
              <a:t> </a:t>
            </a:r>
            <a:r>
              <a:rPr lang="en-IN" dirty="0" err="1"/>
              <a:t>function_name</a:t>
            </a:r>
            <a:r>
              <a:rPr lang="en-IN" dirty="0"/>
              <a:t>(parameters):</a:t>
            </a:r>
          </a:p>
          <a:p>
            <a:pPr marL="0" indent="0">
              <a:buNone/>
            </a:pPr>
            <a:r>
              <a:rPr lang="en-IN" dirty="0"/>
              <a:t>    “ “ “</a:t>
            </a:r>
          </a:p>
          <a:p>
            <a:pPr marL="0" indent="0">
              <a:buNone/>
            </a:pPr>
            <a:r>
              <a:rPr lang="en-IN" dirty="0"/>
              <a:t>    A short description of what the function does.</a:t>
            </a:r>
          </a:p>
          <a:p>
            <a:pPr marL="0" indent="0">
              <a:buNone/>
            </a:pPr>
            <a:endParaRPr lang="en-IN" dirty="0"/>
          </a:p>
          <a:p>
            <a:pPr marL="0" indent="0">
              <a:buNone/>
            </a:pPr>
            <a:r>
              <a:rPr lang="en-IN" dirty="0"/>
              <a:t>    A more detailed explanation of the function’s </a:t>
            </a:r>
            <a:r>
              <a:rPr lang="en-IN" dirty="0" err="1"/>
              <a:t>behavior</a:t>
            </a:r>
            <a:r>
              <a:rPr lang="en-IN" dirty="0"/>
              <a:t> (optional).</a:t>
            </a:r>
          </a:p>
          <a:p>
            <a:pPr marL="0" indent="0">
              <a:buNone/>
            </a:pPr>
            <a:endParaRPr lang="en-IN" dirty="0"/>
          </a:p>
          <a:p>
            <a:pPr marL="0" indent="0">
              <a:buNone/>
            </a:pPr>
            <a:r>
              <a:rPr lang="en-IN" dirty="0"/>
              <a:t>    Parameters:</a:t>
            </a:r>
          </a:p>
          <a:p>
            <a:pPr marL="0" indent="0">
              <a:buNone/>
            </a:pPr>
            <a:r>
              <a:rPr lang="en-IN" dirty="0"/>
              <a:t>    </a:t>
            </a:r>
            <a:r>
              <a:rPr lang="en-IN" dirty="0" err="1"/>
              <a:t>parameter_name</a:t>
            </a:r>
            <a:r>
              <a:rPr lang="en-IN" dirty="0"/>
              <a:t> (type): Description of the parameter.</a:t>
            </a:r>
          </a:p>
          <a:p>
            <a:pPr marL="0" indent="0">
              <a:buNone/>
            </a:pPr>
            <a:endParaRPr lang="en-IN" dirty="0"/>
          </a:p>
          <a:p>
            <a:pPr marL="0" indent="0">
              <a:buNone/>
            </a:pPr>
            <a:r>
              <a:rPr lang="en-IN" dirty="0"/>
              <a:t>    Returns:</a:t>
            </a:r>
          </a:p>
          <a:p>
            <a:pPr marL="0" indent="0">
              <a:buNone/>
            </a:pPr>
            <a:r>
              <a:rPr lang="en-IN" dirty="0"/>
              <a:t>    </a:t>
            </a:r>
            <a:r>
              <a:rPr lang="en-IN" dirty="0" err="1"/>
              <a:t>return_type</a:t>
            </a:r>
            <a:r>
              <a:rPr lang="en-IN" dirty="0"/>
              <a:t>: Description of what is returned (optional).</a:t>
            </a:r>
          </a:p>
          <a:p>
            <a:pPr marL="0" indent="0">
              <a:buNone/>
            </a:pPr>
            <a:r>
              <a:rPr lang="en-IN" dirty="0"/>
              <a:t>    </a:t>
            </a:r>
            <a:r>
              <a:rPr lang="en-IN" dirty="0" smtClean="0"/>
              <a:t>“ “ “</a:t>
            </a:r>
            <a:endParaRPr lang="en-IN" dirty="0"/>
          </a:p>
          <a:p>
            <a:pPr marL="0" indent="0">
              <a:buNone/>
            </a:pPr>
            <a:r>
              <a:rPr lang="en-IN" dirty="0"/>
              <a:t>    # Function body</a:t>
            </a:r>
          </a:p>
          <a:p>
            <a:endParaRPr lang="en-IN" dirty="0"/>
          </a:p>
        </p:txBody>
      </p:sp>
      <p:sp>
        <p:nvSpPr>
          <p:cNvPr id="4" name="Content Placeholder 3"/>
          <p:cNvSpPr>
            <a:spLocks noGrp="1"/>
          </p:cNvSpPr>
          <p:nvPr>
            <p:ph sz="half" idx="2"/>
          </p:nvPr>
        </p:nvSpPr>
        <p:spPr>
          <a:xfrm>
            <a:off x="6096000" y="1253715"/>
            <a:ext cx="5384800" cy="4718304"/>
          </a:xfrm>
        </p:spPr>
        <p:txBody>
          <a:bodyPr>
            <a:normAutofit fontScale="55000" lnSpcReduction="20000"/>
          </a:bodyPr>
          <a:lstStyle/>
          <a:p>
            <a:pPr>
              <a:lnSpc>
                <a:spcPct val="120000"/>
              </a:lnSpc>
            </a:pPr>
            <a:r>
              <a:rPr lang="en-IN" dirty="0"/>
              <a:t>Triple Quotes (""" or '''): Use triple quotes to define a </a:t>
            </a:r>
            <a:r>
              <a:rPr lang="en-IN" dirty="0" err="1"/>
              <a:t>docstring</a:t>
            </a:r>
            <a:r>
              <a:rPr lang="en-IN" dirty="0" smtClean="0"/>
              <a:t>.</a:t>
            </a:r>
          </a:p>
          <a:p>
            <a:pPr>
              <a:lnSpc>
                <a:spcPct val="120000"/>
              </a:lnSpc>
            </a:pPr>
            <a:r>
              <a:rPr lang="en-IN" dirty="0" smtClean="0"/>
              <a:t>Short </a:t>
            </a:r>
            <a:r>
              <a:rPr lang="en-IN" dirty="0"/>
              <a:t>Description: The first line should provide a brief summary of what the function does</a:t>
            </a:r>
            <a:r>
              <a:rPr lang="en-IN" dirty="0" smtClean="0"/>
              <a:t>.</a:t>
            </a:r>
          </a:p>
          <a:p>
            <a:pPr>
              <a:lnSpc>
                <a:spcPct val="120000"/>
              </a:lnSpc>
            </a:pPr>
            <a:r>
              <a:rPr lang="en-IN" dirty="0" smtClean="0"/>
              <a:t>Blank </a:t>
            </a:r>
            <a:r>
              <a:rPr lang="en-IN" dirty="0"/>
              <a:t>Line: After the summary, leave a blank line if you plan to add more detailed information</a:t>
            </a:r>
            <a:r>
              <a:rPr lang="en-IN" dirty="0" smtClean="0"/>
              <a:t>.</a:t>
            </a:r>
          </a:p>
          <a:p>
            <a:pPr>
              <a:lnSpc>
                <a:spcPct val="120000"/>
              </a:lnSpc>
            </a:pPr>
            <a:r>
              <a:rPr lang="en-IN" dirty="0" smtClean="0"/>
              <a:t>Detailed </a:t>
            </a:r>
            <a:r>
              <a:rPr lang="en-IN" dirty="0"/>
              <a:t>Description (optional): You can add further explanation of the function’s purpose or </a:t>
            </a:r>
            <a:r>
              <a:rPr lang="en-IN" dirty="0" err="1"/>
              <a:t>behavior</a:t>
            </a:r>
            <a:r>
              <a:rPr lang="en-IN" dirty="0"/>
              <a:t>, if necessary</a:t>
            </a:r>
            <a:r>
              <a:rPr lang="en-IN" dirty="0" smtClean="0"/>
              <a:t>.</a:t>
            </a:r>
          </a:p>
          <a:p>
            <a:pPr>
              <a:lnSpc>
                <a:spcPct val="120000"/>
              </a:lnSpc>
            </a:pPr>
            <a:r>
              <a:rPr lang="en-IN" dirty="0" smtClean="0"/>
              <a:t>Parameters </a:t>
            </a:r>
            <a:r>
              <a:rPr lang="en-IN" dirty="0"/>
              <a:t>Section (optional): Document each parameter, including its type and description. This is especially useful for more complex functions with multiple arguments</a:t>
            </a:r>
            <a:r>
              <a:rPr lang="en-IN" dirty="0" smtClean="0"/>
              <a:t>.</a:t>
            </a:r>
          </a:p>
          <a:p>
            <a:pPr>
              <a:lnSpc>
                <a:spcPct val="120000"/>
              </a:lnSpc>
            </a:pPr>
            <a:r>
              <a:rPr lang="en-IN" dirty="0" smtClean="0"/>
              <a:t>Returns </a:t>
            </a:r>
            <a:r>
              <a:rPr lang="en-IN" dirty="0"/>
              <a:t>Section (optional): Document what the function returns, including the return type. This is particularly useful if the function returns a value.</a:t>
            </a:r>
          </a:p>
        </p:txBody>
      </p:sp>
    </p:spTree>
    <p:extLst>
      <p:ext uri="{BB962C8B-B14F-4D97-AF65-F5344CB8AC3E}">
        <p14:creationId xmlns:p14="http://schemas.microsoft.com/office/powerpoint/2010/main" val="4013387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sz="half" idx="1"/>
          </p:nvPr>
        </p:nvSpPr>
        <p:spPr/>
        <p:txBody>
          <a:bodyPr>
            <a:normAutofit fontScale="55000" lnSpcReduction="20000"/>
          </a:bodyPr>
          <a:lstStyle/>
          <a:p>
            <a:pPr marL="0" indent="0">
              <a:buNone/>
            </a:pPr>
            <a:r>
              <a:rPr lang="en-IN" dirty="0" err="1"/>
              <a:t>def</a:t>
            </a:r>
            <a:r>
              <a:rPr lang="en-IN" dirty="0"/>
              <a:t> multiply(a, b):</a:t>
            </a:r>
          </a:p>
          <a:p>
            <a:pPr marL="0" indent="0">
              <a:buNone/>
            </a:pPr>
            <a:r>
              <a:rPr lang="en-IN" dirty="0"/>
              <a:t>    """</a:t>
            </a:r>
          </a:p>
          <a:p>
            <a:pPr marL="0" indent="0">
              <a:buNone/>
            </a:pPr>
            <a:r>
              <a:rPr lang="en-IN" dirty="0"/>
              <a:t>    Multiplies two numbers and returns the result.</a:t>
            </a:r>
          </a:p>
          <a:p>
            <a:pPr marL="0" indent="0">
              <a:buNone/>
            </a:pPr>
            <a:endParaRPr lang="en-IN" dirty="0"/>
          </a:p>
          <a:p>
            <a:pPr marL="0" indent="0">
              <a:buNone/>
            </a:pPr>
            <a:r>
              <a:rPr lang="en-IN" dirty="0"/>
              <a:t>    Parameters:</a:t>
            </a:r>
          </a:p>
          <a:p>
            <a:pPr marL="0" indent="0">
              <a:buNone/>
            </a:pPr>
            <a:r>
              <a:rPr lang="en-IN" dirty="0"/>
              <a:t>    a (</a:t>
            </a:r>
            <a:r>
              <a:rPr lang="en-IN" dirty="0" err="1"/>
              <a:t>int</a:t>
            </a:r>
            <a:r>
              <a:rPr lang="en-IN" dirty="0"/>
              <a:t> or float): The first number to be multiplied.</a:t>
            </a:r>
          </a:p>
          <a:p>
            <a:pPr marL="0" indent="0">
              <a:buNone/>
            </a:pPr>
            <a:r>
              <a:rPr lang="en-IN" dirty="0"/>
              <a:t>    b (</a:t>
            </a:r>
            <a:r>
              <a:rPr lang="en-IN" dirty="0" err="1"/>
              <a:t>int</a:t>
            </a:r>
            <a:r>
              <a:rPr lang="en-IN" dirty="0"/>
              <a:t> or float): The second number to be multiplied.</a:t>
            </a:r>
          </a:p>
          <a:p>
            <a:pPr marL="0" indent="0">
              <a:buNone/>
            </a:pPr>
            <a:endParaRPr lang="en-IN" dirty="0"/>
          </a:p>
          <a:p>
            <a:pPr marL="0" indent="0">
              <a:buNone/>
            </a:pPr>
            <a:r>
              <a:rPr lang="en-IN" dirty="0"/>
              <a:t>    Returns:</a:t>
            </a:r>
          </a:p>
          <a:p>
            <a:pPr marL="0" indent="0">
              <a:buNone/>
            </a:pPr>
            <a:r>
              <a:rPr lang="en-IN" dirty="0"/>
              <a:t>    </a:t>
            </a:r>
            <a:r>
              <a:rPr lang="en-IN" dirty="0" err="1"/>
              <a:t>int</a:t>
            </a:r>
            <a:r>
              <a:rPr lang="en-IN" dirty="0"/>
              <a:t> or float: The product of the two numbers.</a:t>
            </a:r>
          </a:p>
          <a:p>
            <a:pPr marL="0" indent="0">
              <a:buNone/>
            </a:pPr>
            <a:r>
              <a:rPr lang="en-IN" dirty="0"/>
              <a:t>    """</a:t>
            </a:r>
          </a:p>
          <a:p>
            <a:pPr marL="0" indent="0">
              <a:buNone/>
            </a:pPr>
            <a:r>
              <a:rPr lang="en-IN" dirty="0"/>
              <a:t>    return a * b</a:t>
            </a:r>
          </a:p>
          <a:p>
            <a:endParaRPr lang="en-IN" dirty="0"/>
          </a:p>
        </p:txBody>
      </p:sp>
      <p:sp>
        <p:nvSpPr>
          <p:cNvPr id="4" name="Content Placeholder 3"/>
          <p:cNvSpPr>
            <a:spLocks noGrp="1"/>
          </p:cNvSpPr>
          <p:nvPr>
            <p:ph sz="half" idx="2"/>
          </p:nvPr>
        </p:nvSpPr>
        <p:spPr>
          <a:xfrm>
            <a:off x="6096000" y="1222591"/>
            <a:ext cx="5384800" cy="4718304"/>
          </a:xfrm>
        </p:spPr>
        <p:txBody>
          <a:bodyPr>
            <a:normAutofit fontScale="55000" lnSpcReduction="20000"/>
          </a:bodyPr>
          <a:lstStyle/>
          <a:p>
            <a:pPr marL="0" indent="0">
              <a:buNone/>
            </a:pPr>
            <a:r>
              <a:rPr lang="en-IN" dirty="0" err="1"/>
              <a:t>def</a:t>
            </a:r>
            <a:r>
              <a:rPr lang="en-IN" dirty="0"/>
              <a:t> divide(numerator, denominator):</a:t>
            </a:r>
          </a:p>
          <a:p>
            <a:pPr marL="0" indent="0">
              <a:buNone/>
            </a:pPr>
            <a:r>
              <a:rPr lang="en-IN" dirty="0"/>
              <a:t>    """</a:t>
            </a:r>
          </a:p>
          <a:p>
            <a:pPr marL="0" indent="0">
              <a:buNone/>
            </a:pPr>
            <a:r>
              <a:rPr lang="en-IN" dirty="0"/>
              <a:t>    Divides the numerator by the denominator and returns the result.</a:t>
            </a:r>
          </a:p>
          <a:p>
            <a:pPr marL="0" indent="0">
              <a:buNone/>
            </a:pPr>
            <a:endParaRPr lang="en-IN" dirty="0"/>
          </a:p>
          <a:p>
            <a:pPr marL="0" indent="0">
              <a:buNone/>
            </a:pPr>
            <a:r>
              <a:rPr lang="en-IN" dirty="0"/>
              <a:t>    If the denominator is zero, an error message is returned instead.</a:t>
            </a:r>
          </a:p>
          <a:p>
            <a:pPr marL="0" indent="0">
              <a:buNone/>
            </a:pPr>
            <a:endParaRPr lang="en-IN" dirty="0"/>
          </a:p>
          <a:p>
            <a:pPr marL="0" indent="0">
              <a:buNone/>
            </a:pPr>
            <a:r>
              <a:rPr lang="en-IN" dirty="0"/>
              <a:t>    Parameters:</a:t>
            </a:r>
          </a:p>
          <a:p>
            <a:pPr marL="0" indent="0">
              <a:buNone/>
            </a:pPr>
            <a:r>
              <a:rPr lang="en-IN" dirty="0"/>
              <a:t>    numerator (</a:t>
            </a:r>
            <a:r>
              <a:rPr lang="en-IN" dirty="0" err="1"/>
              <a:t>int</a:t>
            </a:r>
            <a:r>
              <a:rPr lang="en-IN" dirty="0"/>
              <a:t> or float): The number to be divided.</a:t>
            </a:r>
          </a:p>
          <a:p>
            <a:pPr marL="0" indent="0">
              <a:buNone/>
            </a:pPr>
            <a:r>
              <a:rPr lang="en-IN" dirty="0"/>
              <a:t>    denominator (</a:t>
            </a:r>
            <a:r>
              <a:rPr lang="en-IN" dirty="0" err="1"/>
              <a:t>int</a:t>
            </a:r>
            <a:r>
              <a:rPr lang="en-IN" dirty="0"/>
              <a:t> or float): The number by which to divide the numerator.</a:t>
            </a:r>
          </a:p>
          <a:p>
            <a:pPr marL="0" indent="0">
              <a:buNone/>
            </a:pPr>
            <a:endParaRPr lang="en-IN" dirty="0"/>
          </a:p>
          <a:p>
            <a:pPr marL="0" indent="0">
              <a:buNone/>
            </a:pPr>
            <a:r>
              <a:rPr lang="en-IN" dirty="0"/>
              <a:t>    Returns:</a:t>
            </a:r>
          </a:p>
          <a:p>
            <a:pPr marL="0" indent="0">
              <a:buNone/>
            </a:pPr>
            <a:r>
              <a:rPr lang="en-IN" dirty="0"/>
              <a:t>    float: The result of the division if the denominator is non-zero.</a:t>
            </a:r>
          </a:p>
          <a:p>
            <a:pPr marL="0" indent="0">
              <a:buNone/>
            </a:pPr>
            <a:r>
              <a:rPr lang="en-IN" dirty="0"/>
              <a:t>    </a:t>
            </a:r>
            <a:r>
              <a:rPr lang="en-IN" dirty="0" err="1"/>
              <a:t>str</a:t>
            </a:r>
            <a:r>
              <a:rPr lang="en-IN" dirty="0"/>
              <a:t>: An error message if the denominator is zero.</a:t>
            </a:r>
          </a:p>
          <a:p>
            <a:pPr marL="0" indent="0">
              <a:buNone/>
            </a:pPr>
            <a:r>
              <a:rPr lang="en-IN" dirty="0"/>
              <a:t>    """</a:t>
            </a:r>
          </a:p>
          <a:p>
            <a:pPr marL="0" indent="0">
              <a:buNone/>
            </a:pPr>
            <a:r>
              <a:rPr lang="en-IN" dirty="0"/>
              <a:t>    if denominator == 0:</a:t>
            </a:r>
          </a:p>
          <a:p>
            <a:pPr marL="0" indent="0">
              <a:buNone/>
            </a:pPr>
            <a:r>
              <a:rPr lang="en-IN" dirty="0"/>
              <a:t>        return "Error: Cannot divide by zero."</a:t>
            </a:r>
          </a:p>
          <a:p>
            <a:pPr marL="0" indent="0">
              <a:buNone/>
            </a:pPr>
            <a:r>
              <a:rPr lang="en-IN" dirty="0"/>
              <a:t>    return numerator / denominator</a:t>
            </a:r>
          </a:p>
          <a:p>
            <a:endParaRPr lang="en-IN" dirty="0"/>
          </a:p>
        </p:txBody>
      </p:sp>
    </p:spTree>
    <p:extLst>
      <p:ext uri="{BB962C8B-B14F-4D97-AF65-F5344CB8AC3E}">
        <p14:creationId xmlns:p14="http://schemas.microsoft.com/office/powerpoint/2010/main" val="3170582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sz="half" idx="1"/>
          </p:nvPr>
        </p:nvSpPr>
        <p:spPr>
          <a:xfrm>
            <a:off x="609599" y="1673352"/>
            <a:ext cx="10852597" cy="4718304"/>
          </a:xfrm>
        </p:spPr>
        <p:txBody>
          <a:bodyPr>
            <a:normAutofit fontScale="85000" lnSpcReduction="20000"/>
          </a:bodyPr>
          <a:lstStyle/>
          <a:p>
            <a:pPr marL="0" indent="0">
              <a:buNone/>
            </a:pPr>
            <a:r>
              <a:rPr lang="en-IN" dirty="0"/>
              <a:t>class Calculator:</a:t>
            </a:r>
          </a:p>
          <a:p>
            <a:pPr marL="0" indent="0">
              <a:buNone/>
            </a:pPr>
            <a:r>
              <a:rPr lang="en-IN" dirty="0"/>
              <a:t>    """</a:t>
            </a:r>
          </a:p>
          <a:p>
            <a:pPr marL="0" indent="0">
              <a:buNone/>
            </a:pPr>
            <a:r>
              <a:rPr lang="en-IN" dirty="0"/>
              <a:t>    A simple calculator class to perform basic arithmetic operations.</a:t>
            </a:r>
          </a:p>
          <a:p>
            <a:pPr marL="0" indent="0">
              <a:buNone/>
            </a:pPr>
            <a:endParaRPr lang="en-IN" dirty="0"/>
          </a:p>
          <a:p>
            <a:pPr marL="0" indent="0">
              <a:buNone/>
            </a:pPr>
            <a:r>
              <a:rPr lang="en-IN" dirty="0"/>
              <a:t>    Methods:</a:t>
            </a:r>
          </a:p>
          <a:p>
            <a:pPr marL="0" indent="0">
              <a:buNone/>
            </a:pPr>
            <a:r>
              <a:rPr lang="en-IN" dirty="0"/>
              <a:t>    add(a, b): Returns the sum of a and b.</a:t>
            </a:r>
          </a:p>
          <a:p>
            <a:pPr marL="0" indent="0">
              <a:buNone/>
            </a:pPr>
            <a:r>
              <a:rPr lang="en-IN" dirty="0"/>
              <a:t>    subtract(a, b): Returns the difference of a and b.</a:t>
            </a:r>
          </a:p>
          <a:p>
            <a:pPr marL="0" indent="0">
              <a:buNone/>
            </a:pPr>
            <a:r>
              <a:rPr lang="en-IN" dirty="0"/>
              <a:t>    multiply(a, b): Returns the product of a and b.</a:t>
            </a:r>
          </a:p>
          <a:p>
            <a:pPr marL="0" indent="0">
              <a:buNone/>
            </a:pPr>
            <a:r>
              <a:rPr lang="en-IN" dirty="0"/>
              <a:t>    divide(a, b): Returns the result of a divided by b, or an error if division by zero.</a:t>
            </a:r>
          </a:p>
          <a:p>
            <a:pPr marL="0" indent="0">
              <a:buNone/>
            </a:pPr>
            <a:r>
              <a:rPr lang="en-IN" dirty="0"/>
              <a:t>    """</a:t>
            </a:r>
          </a:p>
          <a:p>
            <a:pPr marL="0" indent="0">
              <a:buNone/>
            </a:pPr>
            <a:r>
              <a:rPr lang="en-IN" dirty="0"/>
              <a:t>    </a:t>
            </a:r>
            <a:r>
              <a:rPr lang="en-IN" dirty="0" err="1"/>
              <a:t>def</a:t>
            </a:r>
            <a:r>
              <a:rPr lang="en-IN" dirty="0"/>
              <a:t> add(self, a, b):</a:t>
            </a:r>
          </a:p>
          <a:p>
            <a:pPr marL="0" indent="0">
              <a:buNone/>
            </a:pPr>
            <a:r>
              <a:rPr lang="en-IN" dirty="0"/>
              <a:t>        return a + b</a:t>
            </a:r>
          </a:p>
          <a:p>
            <a:endParaRPr lang="en-IN" dirty="0"/>
          </a:p>
        </p:txBody>
      </p:sp>
    </p:spTree>
    <p:extLst>
      <p:ext uri="{BB962C8B-B14F-4D97-AF65-F5344CB8AC3E}">
        <p14:creationId xmlns:p14="http://schemas.microsoft.com/office/powerpoint/2010/main" val="4007745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F0B75E-A05D-8DDC-59D6-0538DC6A9961}"/>
              </a:ext>
            </a:extLst>
          </p:cNvPr>
          <p:cNvSpPr>
            <a:spLocks noGrp="1"/>
          </p:cNvSpPr>
          <p:nvPr>
            <p:ph type="title"/>
          </p:nvPr>
        </p:nvSpPr>
        <p:spPr/>
        <p:txBody>
          <a:bodyPr/>
          <a:lstStyle/>
          <a:p>
            <a:r>
              <a:rPr lang="en-IN" dirty="0"/>
              <a:t>Function parameters and arguments</a:t>
            </a:r>
            <a:endParaRPr lang="en-GB" dirty="0"/>
          </a:p>
        </p:txBody>
      </p:sp>
      <p:sp>
        <p:nvSpPr>
          <p:cNvPr id="3" name="Content Placeholder 2">
            <a:extLst>
              <a:ext uri="{FF2B5EF4-FFF2-40B4-BE49-F238E27FC236}">
                <a16:creationId xmlns:a16="http://schemas.microsoft.com/office/drawing/2014/main" xmlns="" id="{8D4D90D5-7AA8-7478-7981-6D53450F231F}"/>
              </a:ext>
            </a:extLst>
          </p:cNvPr>
          <p:cNvSpPr>
            <a:spLocks noGrp="1"/>
          </p:cNvSpPr>
          <p:nvPr>
            <p:ph sz="half" idx="1"/>
          </p:nvPr>
        </p:nvSpPr>
        <p:spPr/>
        <p:txBody>
          <a:bodyPr/>
          <a:lstStyle/>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Parameter: </a:t>
            </a:r>
            <a:r>
              <a:rPr lang="en-GB" b="0" i="0" dirty="0">
                <a:solidFill>
                  <a:srgbClr val="000000"/>
                </a:solidFill>
                <a:effectLst/>
                <a:latin typeface="Arial" panose="020B0604020202020204" pitchFamily="34" charset="0"/>
                <a:cs typeface="Arial" panose="020B0604020202020204" pitchFamily="34" charset="0"/>
              </a:rPr>
              <a:t>A parameter is the variable listed inside the parentheses in the function definition.</a:t>
            </a:r>
          </a:p>
          <a:p>
            <a:r>
              <a:rPr lang="en-GB" dirty="0">
                <a:solidFill>
                  <a:srgbClr val="000000"/>
                </a:solidFill>
                <a:latin typeface="Arial" panose="020B0604020202020204" pitchFamily="34" charset="0"/>
                <a:cs typeface="Arial" panose="020B0604020202020204" pitchFamily="34" charset="0"/>
              </a:rPr>
              <a:t>Argument: </a:t>
            </a:r>
            <a:r>
              <a:rPr lang="en-GB" b="0" i="0" dirty="0">
                <a:solidFill>
                  <a:srgbClr val="000000"/>
                </a:solidFill>
                <a:effectLst/>
                <a:latin typeface="Arial" panose="020B0604020202020204" pitchFamily="34" charset="0"/>
                <a:cs typeface="Arial" panose="020B0604020202020204" pitchFamily="34" charset="0"/>
              </a:rPr>
              <a:t>An argument is the value that are sent to the function when it is called.</a:t>
            </a:r>
            <a:endParaRPr lang="en-GB" dirty="0">
              <a:latin typeface="Arial" panose="020B0604020202020204" pitchFamily="34" charset="0"/>
              <a:cs typeface="Arial" panose="020B0604020202020204" pitchFamily="34" charset="0"/>
            </a:endParaRPr>
          </a:p>
        </p:txBody>
      </p:sp>
      <p:pic>
        <p:nvPicPr>
          <p:cNvPr id="5" name="Picture 2" descr="function argument and parameter">
            <a:extLst>
              <a:ext uri="{FF2B5EF4-FFF2-40B4-BE49-F238E27FC236}">
                <a16:creationId xmlns:a16="http://schemas.microsoft.com/office/drawing/2014/main" xmlns="" id="{A12FEA21-6C7E-D739-B9B6-D311E972DC3D}"/>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413500" y="2010878"/>
            <a:ext cx="5458952" cy="3448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6742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Function parameter: default</a:t>
            </a:r>
            <a:endParaRPr lang="en-IN" dirty="0"/>
          </a:p>
        </p:txBody>
      </p:sp>
      <p:sp>
        <p:nvSpPr>
          <p:cNvPr id="3" name="Content Placeholder 2"/>
          <p:cNvSpPr>
            <a:spLocks noGrp="1"/>
          </p:cNvSpPr>
          <p:nvPr>
            <p:ph sz="half" idx="1"/>
          </p:nvPr>
        </p:nvSpPr>
        <p:spPr/>
        <p:txBody>
          <a:bodyPr>
            <a:normAutofit lnSpcReduction="10000"/>
          </a:bodyPr>
          <a:lstStyle/>
          <a:p>
            <a:pPr algn="just">
              <a:lnSpc>
                <a:spcPct val="150000"/>
              </a:lnSpc>
            </a:pPr>
            <a:r>
              <a:rPr lang="en-IN" sz="2000" b="1" dirty="0"/>
              <a:t>default parameters</a:t>
            </a:r>
            <a:r>
              <a:rPr lang="en-IN" sz="2000" dirty="0"/>
              <a:t> allow a function to have predefined values for its arguments. If a value is not provided when calling the function, the default value is used</a:t>
            </a:r>
            <a:r>
              <a:rPr lang="en-IN" sz="2000" dirty="0" smtClean="0"/>
              <a:t>.</a:t>
            </a:r>
          </a:p>
          <a:p>
            <a:pPr marL="0" indent="0">
              <a:buNone/>
            </a:pPr>
            <a:endParaRPr lang="en-IN" sz="2000" dirty="0"/>
          </a:p>
          <a:p>
            <a:pPr marL="0" indent="0">
              <a:buNone/>
            </a:pPr>
            <a:endParaRPr lang="en-IN" sz="2000" dirty="0" smtClean="0"/>
          </a:p>
          <a:p>
            <a:pPr marL="0" indent="0">
              <a:buNone/>
            </a:pPr>
            <a:endParaRPr lang="en-IN" sz="2000" dirty="0" smtClean="0"/>
          </a:p>
          <a:p>
            <a:r>
              <a:rPr lang="en-IN" sz="2000" dirty="0" smtClean="0"/>
              <a:t>Syntax</a:t>
            </a:r>
          </a:p>
          <a:p>
            <a:pPr marL="0" indent="0">
              <a:buNone/>
            </a:pPr>
            <a:r>
              <a:rPr lang="en-IN" sz="2000" dirty="0" err="1"/>
              <a:t>def</a:t>
            </a:r>
            <a:r>
              <a:rPr lang="en-IN" sz="2000" dirty="0"/>
              <a:t> </a:t>
            </a:r>
            <a:r>
              <a:rPr lang="en-IN" sz="2000" dirty="0" err="1"/>
              <a:t>function_name</a:t>
            </a:r>
            <a:r>
              <a:rPr lang="en-IN" sz="2000" dirty="0"/>
              <a:t>(param1=default_value1, param2=default_value2):</a:t>
            </a:r>
          </a:p>
          <a:p>
            <a:pPr marL="0" indent="0">
              <a:buNone/>
            </a:pPr>
            <a:r>
              <a:rPr lang="en-IN" sz="2000" dirty="0" smtClean="0"/>
              <a:t># </a:t>
            </a:r>
            <a:r>
              <a:rPr lang="en-IN" sz="2000" dirty="0"/>
              <a:t>function body</a:t>
            </a:r>
          </a:p>
          <a:p>
            <a:endParaRPr lang="en-IN" dirty="0"/>
          </a:p>
        </p:txBody>
      </p:sp>
      <p:sp>
        <p:nvSpPr>
          <p:cNvPr id="4" name="Content Placeholder 3"/>
          <p:cNvSpPr>
            <a:spLocks noGrp="1"/>
          </p:cNvSpPr>
          <p:nvPr>
            <p:ph sz="half" idx="2"/>
          </p:nvPr>
        </p:nvSpPr>
        <p:spPr/>
        <p:txBody>
          <a:bodyPr>
            <a:normAutofit lnSpcReduction="10000"/>
          </a:bodyPr>
          <a:lstStyle/>
          <a:p>
            <a:pPr marL="0" indent="0">
              <a:buNone/>
            </a:pPr>
            <a:r>
              <a:rPr lang="en-IN" dirty="0" smtClean="0"/>
              <a:t>Example: </a:t>
            </a:r>
          </a:p>
          <a:p>
            <a:pPr marL="0" indent="0">
              <a:buNone/>
            </a:pPr>
            <a:r>
              <a:rPr lang="en-IN" dirty="0" err="1" smtClean="0">
                <a:solidFill>
                  <a:srgbClr val="0070C0"/>
                </a:solidFill>
              </a:rPr>
              <a:t>def</a:t>
            </a:r>
            <a:r>
              <a:rPr lang="en-IN" dirty="0" smtClean="0">
                <a:solidFill>
                  <a:srgbClr val="0070C0"/>
                </a:solidFill>
              </a:rPr>
              <a:t> </a:t>
            </a:r>
            <a:r>
              <a:rPr lang="en-IN" dirty="0">
                <a:solidFill>
                  <a:srgbClr val="0070C0"/>
                </a:solidFill>
              </a:rPr>
              <a:t>greet(name="Guest"):</a:t>
            </a:r>
          </a:p>
          <a:p>
            <a:pPr marL="0" indent="0">
              <a:buNone/>
            </a:pPr>
            <a:r>
              <a:rPr lang="en-IN" dirty="0">
                <a:solidFill>
                  <a:srgbClr val="0070C0"/>
                </a:solidFill>
              </a:rPr>
              <a:t>    print(</a:t>
            </a:r>
            <a:r>
              <a:rPr lang="en-IN" dirty="0" err="1">
                <a:solidFill>
                  <a:srgbClr val="0070C0"/>
                </a:solidFill>
              </a:rPr>
              <a:t>f"Hello</a:t>
            </a:r>
            <a:r>
              <a:rPr lang="en-IN" dirty="0">
                <a:solidFill>
                  <a:srgbClr val="0070C0"/>
                </a:solidFill>
              </a:rPr>
              <a:t>, {name</a:t>
            </a:r>
            <a:r>
              <a:rPr lang="en-IN" dirty="0" smtClean="0">
                <a:solidFill>
                  <a:srgbClr val="0070C0"/>
                </a:solidFill>
              </a:rPr>
              <a:t>}!")</a:t>
            </a:r>
            <a:endParaRPr lang="en-IN" dirty="0">
              <a:solidFill>
                <a:srgbClr val="0070C0"/>
              </a:solidFill>
            </a:endParaRPr>
          </a:p>
          <a:p>
            <a:pPr marL="0" indent="0">
              <a:buNone/>
            </a:pPr>
            <a:r>
              <a:rPr lang="en-IN" dirty="0">
                <a:solidFill>
                  <a:srgbClr val="0070C0"/>
                </a:solidFill>
              </a:rPr>
              <a:t>greet("Alice</a:t>
            </a:r>
            <a:r>
              <a:rPr lang="en-IN" dirty="0" smtClean="0">
                <a:solidFill>
                  <a:srgbClr val="0070C0"/>
                </a:solidFill>
              </a:rPr>
              <a:t>")    </a:t>
            </a:r>
            <a:r>
              <a:rPr lang="en-IN" dirty="0">
                <a:solidFill>
                  <a:srgbClr val="0070C0"/>
                </a:solidFill>
              </a:rPr>
              <a:t># Output: Hello, Alice!</a:t>
            </a:r>
          </a:p>
          <a:p>
            <a:pPr marL="0" indent="0">
              <a:buNone/>
            </a:pPr>
            <a:r>
              <a:rPr lang="en-IN" dirty="0">
                <a:solidFill>
                  <a:srgbClr val="0070C0"/>
                </a:solidFill>
              </a:rPr>
              <a:t>greet()     </a:t>
            </a:r>
            <a:r>
              <a:rPr lang="en-IN" dirty="0" smtClean="0">
                <a:solidFill>
                  <a:srgbClr val="0070C0"/>
                </a:solidFill>
              </a:rPr>
              <a:t># </a:t>
            </a:r>
            <a:r>
              <a:rPr lang="en-IN" dirty="0">
                <a:solidFill>
                  <a:srgbClr val="0070C0"/>
                </a:solidFill>
              </a:rPr>
              <a:t>Output: Hello, Guest</a:t>
            </a:r>
            <a:r>
              <a:rPr lang="en-IN" dirty="0" smtClean="0">
                <a:solidFill>
                  <a:srgbClr val="0070C0"/>
                </a:solidFill>
              </a:rPr>
              <a:t>!</a:t>
            </a:r>
          </a:p>
          <a:p>
            <a:pPr marL="0" indent="0">
              <a:buNone/>
            </a:pPr>
            <a:endParaRPr lang="en-IN" dirty="0"/>
          </a:p>
          <a:p>
            <a:r>
              <a:rPr lang="en-IN" dirty="0"/>
              <a:t>f name is provided, it prints "Hello, Alice</a:t>
            </a:r>
            <a:r>
              <a:rPr lang="en-IN" dirty="0" smtClean="0"/>
              <a:t>!“</a:t>
            </a:r>
          </a:p>
          <a:p>
            <a:r>
              <a:rPr lang="en-IN" dirty="0" smtClean="0"/>
              <a:t>If </a:t>
            </a:r>
            <a:r>
              <a:rPr lang="en-IN" dirty="0"/>
              <a:t>not, it defaults to "Guest".</a:t>
            </a:r>
          </a:p>
        </p:txBody>
      </p:sp>
    </p:spTree>
    <p:extLst>
      <p:ext uri="{BB962C8B-B14F-4D97-AF65-F5344CB8AC3E}">
        <p14:creationId xmlns:p14="http://schemas.microsoft.com/office/powerpoint/2010/main" val="3090810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lnSpcReduction="10000"/>
          </a:bodyPr>
          <a:lstStyle/>
          <a:p>
            <a:r>
              <a:rPr lang="en-IN" dirty="0"/>
              <a:t>Keyword required arguments must be passed by name when calling the function</a:t>
            </a:r>
            <a:r>
              <a:rPr lang="en-IN" dirty="0" smtClean="0"/>
              <a:t>.</a:t>
            </a:r>
          </a:p>
          <a:p>
            <a:r>
              <a:rPr lang="en-IN" dirty="0" smtClean="0"/>
              <a:t>Syntax</a:t>
            </a:r>
          </a:p>
          <a:p>
            <a:pPr marL="0" indent="0">
              <a:buNone/>
            </a:pPr>
            <a:r>
              <a:rPr lang="en-IN" dirty="0" err="1"/>
              <a:t>def</a:t>
            </a:r>
            <a:r>
              <a:rPr lang="en-IN" dirty="0"/>
              <a:t> </a:t>
            </a:r>
            <a:r>
              <a:rPr lang="en-IN" dirty="0" err="1"/>
              <a:t>function_name</a:t>
            </a:r>
            <a:r>
              <a:rPr lang="en-IN" dirty="0"/>
              <a:t>(*, param1, param2):</a:t>
            </a:r>
          </a:p>
          <a:p>
            <a:pPr marL="0" indent="0">
              <a:buNone/>
            </a:pPr>
            <a:r>
              <a:rPr lang="en-IN" dirty="0"/>
              <a:t>    # function body</a:t>
            </a:r>
          </a:p>
          <a:p>
            <a:endParaRPr lang="en-IN" dirty="0"/>
          </a:p>
        </p:txBody>
      </p:sp>
      <p:sp>
        <p:nvSpPr>
          <p:cNvPr id="4" name="Content Placeholder 3"/>
          <p:cNvSpPr>
            <a:spLocks noGrp="1"/>
          </p:cNvSpPr>
          <p:nvPr>
            <p:ph sz="half" idx="2"/>
          </p:nvPr>
        </p:nvSpPr>
        <p:spPr/>
        <p:txBody>
          <a:bodyPr>
            <a:normAutofit lnSpcReduction="10000"/>
          </a:bodyPr>
          <a:lstStyle/>
          <a:p>
            <a:r>
              <a:rPr lang="en-IN" sz="2000" dirty="0" smtClean="0"/>
              <a:t>Example</a:t>
            </a:r>
          </a:p>
          <a:p>
            <a:pPr marL="0" indent="0">
              <a:buNone/>
            </a:pPr>
            <a:r>
              <a:rPr lang="en-IN" sz="2000" dirty="0" err="1"/>
              <a:t>def</a:t>
            </a:r>
            <a:r>
              <a:rPr lang="en-IN" sz="2000" dirty="0"/>
              <a:t> greet(*, name, age):</a:t>
            </a:r>
          </a:p>
          <a:p>
            <a:pPr marL="0" indent="0">
              <a:buNone/>
            </a:pPr>
            <a:r>
              <a:rPr lang="en-IN" sz="2000" dirty="0"/>
              <a:t>    print(</a:t>
            </a:r>
            <a:r>
              <a:rPr lang="en-IN" sz="2000" dirty="0" err="1"/>
              <a:t>f"Hello</a:t>
            </a:r>
            <a:r>
              <a:rPr lang="en-IN" sz="2000" dirty="0"/>
              <a:t> {name}, you are {age} years old.")</a:t>
            </a:r>
          </a:p>
          <a:p>
            <a:pPr marL="0" indent="0">
              <a:buNone/>
            </a:pPr>
            <a:endParaRPr lang="en-IN" sz="2000" dirty="0"/>
          </a:p>
          <a:p>
            <a:pPr marL="0" indent="0">
              <a:buNone/>
            </a:pPr>
            <a:r>
              <a:rPr lang="en-IN" sz="2000" dirty="0"/>
              <a:t>greet(name="Alice", age=25)  # ✅ Correct</a:t>
            </a:r>
          </a:p>
          <a:p>
            <a:pPr marL="0" indent="0">
              <a:buNone/>
            </a:pPr>
            <a:r>
              <a:rPr lang="en-IN" sz="2000" dirty="0"/>
              <a:t># greet("Alice", 25)        # ❌ Error: Must use </a:t>
            </a:r>
            <a:r>
              <a:rPr lang="en-IN" sz="2000" dirty="0" smtClean="0"/>
              <a:t>keywords</a:t>
            </a:r>
          </a:p>
          <a:p>
            <a:pPr marL="0" indent="0">
              <a:buNone/>
            </a:pPr>
            <a:endParaRPr lang="en-IN" sz="2000" dirty="0"/>
          </a:p>
          <a:p>
            <a:pPr marL="0" indent="0">
              <a:buNone/>
            </a:pPr>
            <a:endParaRPr lang="en-IN" sz="2000" dirty="0" smtClean="0"/>
          </a:p>
          <a:p>
            <a:pPr marL="0" indent="0">
              <a:buNone/>
            </a:pPr>
            <a:endParaRPr lang="en-IN" sz="2000" dirty="0"/>
          </a:p>
          <a:p>
            <a:r>
              <a:rPr lang="en-IN" dirty="0"/>
              <a:t>Arguments after * must be passed as keywords.</a:t>
            </a:r>
          </a:p>
        </p:txBody>
      </p:sp>
      <p:sp>
        <p:nvSpPr>
          <p:cNvPr id="5" name="Rectangle 1"/>
          <p:cNvSpPr>
            <a:spLocks noGrp="1" noChangeArrowheads="1"/>
          </p:cNvSpPr>
          <p:nvPr>
            <p:ph type="title"/>
          </p:nvPr>
        </p:nvSpPr>
        <p:spPr bwMode="auto">
          <a:xfrm>
            <a:off x="609600" y="705537"/>
            <a:ext cx="712566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Aft>
                <a:spcPct val="0"/>
              </a:spcAft>
            </a:pPr>
            <a:r>
              <a:rPr lang="en-US" altLang="en-US" sz="3600" dirty="0">
                <a:solidFill>
                  <a:schemeClr val="tx1"/>
                </a:solidFill>
                <a:latin typeface="Aharoni" panose="02010803020104030203" pitchFamily="2" charset="-79"/>
                <a:cs typeface="Aharoni" panose="02010803020104030203" pitchFamily="2" charset="-79"/>
              </a:rPr>
              <a:t> Keyword Required Arguments (*)</a:t>
            </a:r>
            <a:endParaRPr kumimoji="0" lang="en-US" altLang="en-US" sz="5400" b="0" i="0" u="none" strike="noStrike" cap="none" normalizeH="0" baseline="0" dirty="0" smtClean="0">
              <a:ln>
                <a:noFill/>
              </a:ln>
              <a:solidFill>
                <a:schemeClr val="tx1"/>
              </a:solidFill>
              <a:effectLst/>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4760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Variable-Length Arguments</a:t>
            </a:r>
          </a:p>
        </p:txBody>
      </p:sp>
      <p:sp>
        <p:nvSpPr>
          <p:cNvPr id="3" name="Content Placeholder 2"/>
          <p:cNvSpPr>
            <a:spLocks noGrp="1"/>
          </p:cNvSpPr>
          <p:nvPr>
            <p:ph sz="half" idx="1"/>
          </p:nvPr>
        </p:nvSpPr>
        <p:spPr/>
        <p:txBody>
          <a:bodyPr>
            <a:normAutofit/>
          </a:bodyPr>
          <a:lstStyle/>
          <a:p>
            <a:r>
              <a:rPr lang="en-IN" dirty="0"/>
              <a:t>Python allows functions to accept a variable number of arguments using *</a:t>
            </a:r>
            <a:r>
              <a:rPr lang="en-IN" dirty="0" err="1"/>
              <a:t>args</a:t>
            </a:r>
            <a:r>
              <a:rPr lang="en-IN" dirty="0"/>
              <a:t> and **</a:t>
            </a:r>
            <a:r>
              <a:rPr lang="en-IN" dirty="0" err="1"/>
              <a:t>kwargs</a:t>
            </a:r>
            <a:r>
              <a:rPr lang="en-IN" dirty="0" smtClean="0"/>
              <a:t>.</a:t>
            </a:r>
          </a:p>
          <a:p>
            <a:pPr marL="0" indent="0">
              <a:buNone/>
            </a:pPr>
            <a:r>
              <a:rPr lang="en-IN" dirty="0" smtClean="0"/>
              <a:t>a</a:t>
            </a:r>
            <a:r>
              <a:rPr lang="en-IN" dirty="0"/>
              <a:t>. *</a:t>
            </a:r>
            <a:r>
              <a:rPr lang="en-IN" dirty="0" err="1"/>
              <a:t>args</a:t>
            </a:r>
            <a:r>
              <a:rPr lang="en-IN" dirty="0"/>
              <a:t> (Non-keyword Variable Arguments)Used to pass a variable number of positional arguments</a:t>
            </a:r>
            <a:r>
              <a:rPr lang="en-IN" dirty="0" smtClean="0"/>
              <a:t>.</a:t>
            </a:r>
          </a:p>
        </p:txBody>
      </p:sp>
      <p:sp>
        <p:nvSpPr>
          <p:cNvPr id="4" name="Content Placeholder 3"/>
          <p:cNvSpPr>
            <a:spLocks noGrp="1"/>
          </p:cNvSpPr>
          <p:nvPr>
            <p:ph sz="half" idx="2"/>
          </p:nvPr>
        </p:nvSpPr>
        <p:spPr/>
        <p:txBody>
          <a:bodyPr>
            <a:normAutofit/>
          </a:bodyPr>
          <a:lstStyle/>
          <a:p>
            <a:r>
              <a:rPr lang="en-IN" dirty="0" err="1"/>
              <a:t>def</a:t>
            </a:r>
            <a:r>
              <a:rPr lang="en-IN" dirty="0"/>
              <a:t> </a:t>
            </a:r>
            <a:r>
              <a:rPr lang="en-IN" dirty="0" err="1"/>
              <a:t>add_numbers</a:t>
            </a:r>
            <a:r>
              <a:rPr lang="en-IN" dirty="0"/>
              <a:t>(*</a:t>
            </a:r>
            <a:r>
              <a:rPr lang="en-IN" dirty="0" err="1"/>
              <a:t>args</a:t>
            </a:r>
            <a:r>
              <a:rPr lang="en-IN" dirty="0"/>
              <a:t>):</a:t>
            </a:r>
          </a:p>
          <a:p>
            <a:r>
              <a:rPr lang="en-IN" dirty="0"/>
              <a:t>    return sum(</a:t>
            </a:r>
            <a:r>
              <a:rPr lang="en-IN" dirty="0" err="1"/>
              <a:t>args</a:t>
            </a:r>
            <a:r>
              <a:rPr lang="en-IN" dirty="0" smtClean="0"/>
              <a:t>)</a:t>
            </a:r>
            <a:endParaRPr lang="en-IN" dirty="0"/>
          </a:p>
          <a:p>
            <a:r>
              <a:rPr lang="en-IN" dirty="0"/>
              <a:t>print(</a:t>
            </a:r>
            <a:r>
              <a:rPr lang="en-IN" dirty="0" err="1"/>
              <a:t>add_numbers</a:t>
            </a:r>
            <a:r>
              <a:rPr lang="en-IN" dirty="0"/>
              <a:t>(1, 2, 3))      </a:t>
            </a:r>
            <a:endParaRPr lang="en-IN" dirty="0" smtClean="0"/>
          </a:p>
          <a:p>
            <a:r>
              <a:rPr lang="en-IN" dirty="0" smtClean="0"/>
              <a:t># </a:t>
            </a:r>
            <a:r>
              <a:rPr lang="en-IN" dirty="0"/>
              <a:t>Output: 6</a:t>
            </a:r>
          </a:p>
          <a:p>
            <a:r>
              <a:rPr lang="en-IN" dirty="0"/>
              <a:t>print(</a:t>
            </a:r>
            <a:r>
              <a:rPr lang="en-IN" dirty="0" err="1"/>
              <a:t>add_numbers</a:t>
            </a:r>
            <a:r>
              <a:rPr lang="en-IN" dirty="0"/>
              <a:t>(4, 5, 6, 7))   </a:t>
            </a:r>
            <a:endParaRPr lang="en-IN" dirty="0" smtClean="0"/>
          </a:p>
          <a:p>
            <a:r>
              <a:rPr lang="en-IN" dirty="0" smtClean="0"/>
              <a:t># </a:t>
            </a:r>
            <a:r>
              <a:rPr lang="en-IN" dirty="0"/>
              <a:t>Output: 22</a:t>
            </a:r>
          </a:p>
          <a:p>
            <a:endParaRPr lang="en-IN" dirty="0"/>
          </a:p>
        </p:txBody>
      </p:sp>
    </p:spTree>
    <p:extLst>
      <p:ext uri="{BB962C8B-B14F-4D97-AF65-F5344CB8AC3E}">
        <p14:creationId xmlns:p14="http://schemas.microsoft.com/office/powerpoint/2010/main" val="3661439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Contd</a:t>
            </a:r>
            <a:r>
              <a:rPr lang="en-IN" dirty="0" smtClean="0"/>
              <a:t>…</a:t>
            </a:r>
            <a:endParaRPr lang="en-IN" dirty="0"/>
          </a:p>
        </p:txBody>
      </p:sp>
      <p:sp>
        <p:nvSpPr>
          <p:cNvPr id="3" name="Content Placeholder 2"/>
          <p:cNvSpPr>
            <a:spLocks noGrp="1"/>
          </p:cNvSpPr>
          <p:nvPr>
            <p:ph sz="half" idx="1"/>
          </p:nvPr>
        </p:nvSpPr>
        <p:spPr/>
        <p:txBody>
          <a:bodyPr/>
          <a:lstStyle/>
          <a:p>
            <a:r>
              <a:rPr lang="en-IN" dirty="0"/>
              <a:t>b. **</a:t>
            </a:r>
            <a:r>
              <a:rPr lang="en-IN" dirty="0" err="1"/>
              <a:t>kwargs</a:t>
            </a:r>
            <a:r>
              <a:rPr lang="en-IN" dirty="0"/>
              <a:t> (Keyword Variable Arguments)Used to pass a variable number of keyword arguments.</a:t>
            </a:r>
          </a:p>
          <a:p>
            <a:endParaRPr lang="en-IN" dirty="0"/>
          </a:p>
        </p:txBody>
      </p:sp>
      <p:sp>
        <p:nvSpPr>
          <p:cNvPr id="4" name="Content Placeholder 3"/>
          <p:cNvSpPr>
            <a:spLocks noGrp="1"/>
          </p:cNvSpPr>
          <p:nvPr>
            <p:ph sz="half" idx="2"/>
          </p:nvPr>
        </p:nvSpPr>
        <p:spPr/>
        <p:txBody>
          <a:bodyPr/>
          <a:lstStyle/>
          <a:p>
            <a:r>
              <a:rPr lang="en-IN" dirty="0" err="1"/>
              <a:t>def</a:t>
            </a:r>
            <a:r>
              <a:rPr lang="en-IN" dirty="0"/>
              <a:t> </a:t>
            </a:r>
            <a:r>
              <a:rPr lang="en-IN" dirty="0" err="1"/>
              <a:t>display_info</a:t>
            </a:r>
            <a:r>
              <a:rPr lang="en-IN" dirty="0"/>
              <a:t>(**</a:t>
            </a:r>
            <a:r>
              <a:rPr lang="en-IN" dirty="0" err="1"/>
              <a:t>kwargs</a:t>
            </a:r>
            <a:r>
              <a:rPr lang="en-IN" dirty="0"/>
              <a:t>):</a:t>
            </a:r>
          </a:p>
          <a:p>
            <a:r>
              <a:rPr lang="en-IN" dirty="0"/>
              <a:t>    for key, value in </a:t>
            </a:r>
            <a:r>
              <a:rPr lang="en-IN" dirty="0" err="1"/>
              <a:t>kwargs.items</a:t>
            </a:r>
            <a:r>
              <a:rPr lang="en-IN" dirty="0"/>
              <a:t>():</a:t>
            </a:r>
          </a:p>
          <a:p>
            <a:r>
              <a:rPr lang="en-IN" dirty="0"/>
              <a:t>        print(f"{key}: {value</a:t>
            </a:r>
            <a:r>
              <a:rPr lang="en-IN" dirty="0" smtClean="0"/>
              <a:t>}")</a:t>
            </a:r>
            <a:endParaRPr lang="en-IN" dirty="0"/>
          </a:p>
          <a:p>
            <a:r>
              <a:rPr lang="en-IN" dirty="0" err="1"/>
              <a:t>display_info</a:t>
            </a:r>
            <a:r>
              <a:rPr lang="en-IN" dirty="0"/>
              <a:t>(name="Alice", age=25, city="New York")</a:t>
            </a:r>
          </a:p>
          <a:p>
            <a:endParaRPr lang="en-IN" dirty="0"/>
          </a:p>
        </p:txBody>
      </p:sp>
    </p:spTree>
    <p:extLst>
      <p:ext uri="{BB962C8B-B14F-4D97-AF65-F5344CB8AC3E}">
        <p14:creationId xmlns:p14="http://schemas.microsoft.com/office/powerpoint/2010/main" val="3126454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sz="half" idx="1"/>
          </p:nvPr>
        </p:nvSpPr>
        <p:spPr/>
        <p:txBody>
          <a:bodyPr>
            <a:normAutofit/>
          </a:bodyPr>
          <a:lstStyle/>
          <a:p>
            <a:r>
              <a:rPr lang="en-IN" dirty="0" err="1"/>
              <a:t>def</a:t>
            </a:r>
            <a:r>
              <a:rPr lang="en-IN" dirty="0"/>
              <a:t> </a:t>
            </a:r>
            <a:r>
              <a:rPr lang="en-IN" dirty="0" err="1"/>
              <a:t>mixed_func</a:t>
            </a:r>
            <a:r>
              <a:rPr lang="en-IN" dirty="0"/>
              <a:t>(a, b=2, *</a:t>
            </a:r>
            <a:r>
              <a:rPr lang="en-IN" dirty="0" err="1"/>
              <a:t>args</a:t>
            </a:r>
            <a:r>
              <a:rPr lang="en-IN" dirty="0"/>
              <a:t>, c, **</a:t>
            </a:r>
            <a:r>
              <a:rPr lang="en-IN" dirty="0" err="1"/>
              <a:t>kwargs</a:t>
            </a:r>
            <a:r>
              <a:rPr lang="en-IN" dirty="0"/>
              <a:t>):</a:t>
            </a:r>
          </a:p>
          <a:p>
            <a:r>
              <a:rPr lang="en-IN" dirty="0"/>
              <a:t>    print(</a:t>
            </a:r>
            <a:r>
              <a:rPr lang="en-IN" dirty="0" err="1"/>
              <a:t>f"a</a:t>
            </a:r>
            <a:r>
              <a:rPr lang="en-IN" dirty="0"/>
              <a:t> = {a}")</a:t>
            </a:r>
          </a:p>
          <a:p>
            <a:r>
              <a:rPr lang="en-IN" dirty="0"/>
              <a:t>    print(</a:t>
            </a:r>
            <a:r>
              <a:rPr lang="en-IN" dirty="0" err="1"/>
              <a:t>f"b</a:t>
            </a:r>
            <a:r>
              <a:rPr lang="en-IN" dirty="0"/>
              <a:t> = {b}")</a:t>
            </a:r>
          </a:p>
          <a:p>
            <a:r>
              <a:rPr lang="en-IN" dirty="0"/>
              <a:t>    print(</a:t>
            </a:r>
            <a:r>
              <a:rPr lang="en-IN" dirty="0" err="1"/>
              <a:t>f"args</a:t>
            </a:r>
            <a:r>
              <a:rPr lang="en-IN" dirty="0"/>
              <a:t> = {</a:t>
            </a:r>
            <a:r>
              <a:rPr lang="en-IN" dirty="0" err="1"/>
              <a:t>args</a:t>
            </a:r>
            <a:r>
              <a:rPr lang="en-IN" dirty="0"/>
              <a:t>}")</a:t>
            </a:r>
          </a:p>
          <a:p>
            <a:r>
              <a:rPr lang="en-IN" dirty="0"/>
              <a:t>    print(</a:t>
            </a:r>
            <a:r>
              <a:rPr lang="en-IN" dirty="0" err="1"/>
              <a:t>f"c</a:t>
            </a:r>
            <a:r>
              <a:rPr lang="en-IN" dirty="0"/>
              <a:t> = {c}")</a:t>
            </a:r>
          </a:p>
          <a:p>
            <a:r>
              <a:rPr lang="en-IN" dirty="0"/>
              <a:t>    print(</a:t>
            </a:r>
            <a:r>
              <a:rPr lang="en-IN" dirty="0" err="1"/>
              <a:t>f"kwargs</a:t>
            </a:r>
            <a:r>
              <a:rPr lang="en-IN" dirty="0"/>
              <a:t> = {</a:t>
            </a:r>
            <a:r>
              <a:rPr lang="en-IN" dirty="0" err="1"/>
              <a:t>kwargs</a:t>
            </a:r>
            <a:r>
              <a:rPr lang="en-IN" dirty="0" smtClean="0"/>
              <a:t>}")</a:t>
            </a:r>
            <a:endParaRPr lang="en-IN" dirty="0"/>
          </a:p>
          <a:p>
            <a:r>
              <a:rPr lang="en-IN" dirty="0" err="1"/>
              <a:t>mixed_func</a:t>
            </a:r>
            <a:r>
              <a:rPr lang="en-IN" dirty="0"/>
              <a:t>(1, 3, 4, 5, c=6, d=7, e=8)</a:t>
            </a:r>
          </a:p>
          <a:p>
            <a:endParaRPr lang="en-IN" dirty="0"/>
          </a:p>
        </p:txBody>
      </p:sp>
      <p:sp>
        <p:nvSpPr>
          <p:cNvPr id="4" name="Content Placeholder 3"/>
          <p:cNvSpPr>
            <a:spLocks noGrp="1"/>
          </p:cNvSpPr>
          <p:nvPr>
            <p:ph sz="half" idx="2"/>
          </p:nvPr>
        </p:nvSpPr>
        <p:spPr/>
        <p:txBody>
          <a:bodyPr>
            <a:normAutofit/>
          </a:bodyPr>
          <a:lstStyle/>
          <a:p>
            <a:r>
              <a:rPr lang="en-IN" dirty="0" smtClean="0"/>
              <a:t>Output</a:t>
            </a:r>
          </a:p>
          <a:p>
            <a:pPr marL="0" indent="0">
              <a:buNone/>
            </a:pPr>
            <a:r>
              <a:rPr lang="en-IN" dirty="0"/>
              <a:t>a = 1</a:t>
            </a:r>
          </a:p>
          <a:p>
            <a:pPr marL="0" indent="0">
              <a:buNone/>
            </a:pPr>
            <a:r>
              <a:rPr lang="en-IN" dirty="0"/>
              <a:t>b = 3</a:t>
            </a:r>
          </a:p>
          <a:p>
            <a:pPr marL="0" indent="0">
              <a:buNone/>
            </a:pPr>
            <a:r>
              <a:rPr lang="en-IN" dirty="0" err="1"/>
              <a:t>args</a:t>
            </a:r>
            <a:r>
              <a:rPr lang="en-IN" dirty="0"/>
              <a:t> = (4, 5)</a:t>
            </a:r>
          </a:p>
          <a:p>
            <a:pPr marL="0" indent="0">
              <a:buNone/>
            </a:pPr>
            <a:r>
              <a:rPr lang="en-IN" dirty="0"/>
              <a:t>c = 6</a:t>
            </a:r>
          </a:p>
          <a:p>
            <a:pPr marL="0" indent="0">
              <a:buNone/>
            </a:pPr>
            <a:r>
              <a:rPr lang="en-IN" dirty="0" err="1"/>
              <a:t>kwargs</a:t>
            </a:r>
            <a:r>
              <a:rPr lang="en-IN" dirty="0"/>
              <a:t> = {'d': 7, 'e': 8}</a:t>
            </a:r>
          </a:p>
          <a:p>
            <a:pPr marL="0" indent="0">
              <a:buNone/>
            </a:pPr>
            <a:endParaRPr lang="en-IN" dirty="0"/>
          </a:p>
        </p:txBody>
      </p:sp>
    </p:spTree>
    <p:extLst>
      <p:ext uri="{BB962C8B-B14F-4D97-AF65-F5344CB8AC3E}">
        <p14:creationId xmlns:p14="http://schemas.microsoft.com/office/powerpoint/2010/main" val="34350875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668361-D4B4-5BAC-198C-99D4073F105F}"/>
              </a:ext>
            </a:extLst>
          </p:cNvPr>
          <p:cNvSpPr>
            <a:spLocks noGrp="1"/>
          </p:cNvSpPr>
          <p:nvPr>
            <p:ph type="title"/>
          </p:nvPr>
        </p:nvSpPr>
        <p:spPr/>
        <p:txBody>
          <a:bodyPr/>
          <a:lstStyle/>
          <a:p>
            <a:r>
              <a:rPr lang="en-IN" dirty="0"/>
              <a:t>Global and local variable</a:t>
            </a:r>
            <a:endParaRPr lang="en-GB" dirty="0"/>
          </a:p>
        </p:txBody>
      </p:sp>
      <p:pic>
        <p:nvPicPr>
          <p:cNvPr id="7" name="Content Placeholder 6">
            <a:extLst>
              <a:ext uri="{FF2B5EF4-FFF2-40B4-BE49-F238E27FC236}">
                <a16:creationId xmlns:a16="http://schemas.microsoft.com/office/drawing/2014/main" xmlns="" id="{E98064B6-11C9-350F-C81B-D427995975FB}"/>
              </a:ext>
            </a:extLst>
          </p:cNvPr>
          <p:cNvPicPr>
            <a:picLocks noGrp="1" noChangeAspect="1"/>
          </p:cNvPicPr>
          <p:nvPr>
            <p:ph sz="half" idx="1"/>
          </p:nvPr>
        </p:nvPicPr>
        <p:blipFill>
          <a:blip r:embed="rId2"/>
          <a:stretch>
            <a:fillRect/>
          </a:stretch>
        </p:blipFill>
        <p:spPr>
          <a:xfrm>
            <a:off x="1266092" y="2011363"/>
            <a:ext cx="4512409" cy="3448050"/>
          </a:xfrm>
          <a:prstGeom prst="rect">
            <a:avLst/>
          </a:prstGeom>
        </p:spPr>
      </p:pic>
      <p:pic>
        <p:nvPicPr>
          <p:cNvPr id="5" name="Content Placeholder 4">
            <a:extLst>
              <a:ext uri="{FF2B5EF4-FFF2-40B4-BE49-F238E27FC236}">
                <a16:creationId xmlns:a16="http://schemas.microsoft.com/office/drawing/2014/main" xmlns="" id="{EE63FDEB-348D-170C-6634-55A60A660BC2}"/>
              </a:ext>
            </a:extLst>
          </p:cNvPr>
          <p:cNvPicPr>
            <a:picLocks noGrp="1" noChangeAspect="1"/>
          </p:cNvPicPr>
          <p:nvPr>
            <p:ph sz="half" idx="2"/>
          </p:nvPr>
        </p:nvPicPr>
        <p:blipFill>
          <a:blip r:embed="rId3"/>
          <a:stretch>
            <a:fillRect/>
          </a:stretch>
        </p:blipFill>
        <p:spPr>
          <a:xfrm>
            <a:off x="6288258" y="2011363"/>
            <a:ext cx="4770267" cy="3448050"/>
          </a:xfrm>
          <a:prstGeom prst="rect">
            <a:avLst/>
          </a:prstGeom>
        </p:spPr>
      </p:pic>
    </p:spTree>
    <p:extLst>
      <p:ext uri="{BB962C8B-B14F-4D97-AF65-F5344CB8AC3E}">
        <p14:creationId xmlns:p14="http://schemas.microsoft.com/office/powerpoint/2010/main" val="2126447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588AD0-206E-7E4B-628A-35E16BEE66F0}"/>
              </a:ext>
            </a:extLst>
          </p:cNvPr>
          <p:cNvSpPr>
            <a:spLocks noGrp="1"/>
          </p:cNvSpPr>
          <p:nvPr>
            <p:ph type="title"/>
          </p:nvPr>
        </p:nvSpPr>
        <p:spPr/>
        <p:txBody>
          <a:bodyPr/>
          <a:lstStyle/>
          <a:p>
            <a:r>
              <a:rPr lang="en-IN" dirty="0"/>
              <a:t> cont..</a:t>
            </a:r>
            <a:endParaRPr lang="en-GB" dirty="0"/>
          </a:p>
        </p:txBody>
      </p:sp>
      <p:sp>
        <p:nvSpPr>
          <p:cNvPr id="3" name="Content Placeholder 2">
            <a:extLst>
              <a:ext uri="{FF2B5EF4-FFF2-40B4-BE49-F238E27FC236}">
                <a16:creationId xmlns:a16="http://schemas.microsoft.com/office/drawing/2014/main" xmlns="" id="{8CD3B2EA-CEC9-7D8F-9851-215B917B9DD4}"/>
              </a:ext>
            </a:extLst>
          </p:cNvPr>
          <p:cNvSpPr>
            <a:spLocks noGrp="1"/>
          </p:cNvSpPr>
          <p:nvPr>
            <p:ph idx="1"/>
          </p:nvPr>
        </p:nvSpPr>
        <p:spPr/>
        <p:txBody>
          <a:bodyPr/>
          <a:lstStyle/>
          <a:p>
            <a:endParaRPr lang="en-GB" b="0" i="0" dirty="0">
              <a:solidFill>
                <a:srgbClr val="273239"/>
              </a:solidFill>
              <a:effectLst/>
              <a:latin typeface="Nunito" pitchFamily="2" charset="0"/>
            </a:endParaRPr>
          </a:p>
          <a:p>
            <a:r>
              <a:rPr lang="en-GB" b="0" i="0" dirty="0">
                <a:solidFill>
                  <a:srgbClr val="273239"/>
                </a:solidFill>
                <a:effectLst/>
                <a:latin typeface="Nunito" pitchFamily="2" charset="0"/>
              </a:rPr>
              <a:t>Local variables in Python are those which are initialized inside a function and belong only to that particular function. It cannot be accessed anywhere outside the function. Let’s see how to create a local variable.</a:t>
            </a:r>
          </a:p>
          <a:p>
            <a:r>
              <a:rPr lang="en-GB" dirty="0">
                <a:solidFill>
                  <a:srgbClr val="273239"/>
                </a:solidFill>
                <a:latin typeface="Nunito" pitchFamily="2" charset="0"/>
              </a:rPr>
              <a:t>Global variables </a:t>
            </a:r>
            <a:r>
              <a:rPr lang="en-GB" b="0" i="0" dirty="0">
                <a:solidFill>
                  <a:srgbClr val="273239"/>
                </a:solidFill>
                <a:effectLst/>
                <a:latin typeface="Nunito" pitchFamily="2" charset="0"/>
              </a:rPr>
              <a:t>are those which are defined outside any function, and which are accessible throughout the program, i.e., inside and outside of every function. </a:t>
            </a:r>
            <a:endParaRPr lang="en-GB" dirty="0"/>
          </a:p>
        </p:txBody>
      </p:sp>
    </p:spTree>
    <p:extLst>
      <p:ext uri="{BB962C8B-B14F-4D97-AF65-F5344CB8AC3E}">
        <p14:creationId xmlns:p14="http://schemas.microsoft.com/office/powerpoint/2010/main" val="21055010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sz="half" idx="1"/>
          </p:nvPr>
        </p:nvSpPr>
        <p:spPr/>
        <p:txBody>
          <a:bodyPr>
            <a:normAutofit fontScale="55000" lnSpcReduction="20000"/>
          </a:bodyPr>
          <a:lstStyle/>
          <a:p>
            <a:pPr marL="0" indent="0">
              <a:buNone/>
            </a:pPr>
            <a:r>
              <a:rPr lang="en-IN" dirty="0"/>
              <a:t># Global variable</a:t>
            </a:r>
          </a:p>
          <a:p>
            <a:pPr marL="0" indent="0">
              <a:buNone/>
            </a:pPr>
            <a:r>
              <a:rPr lang="en-IN" dirty="0"/>
              <a:t>x = 10</a:t>
            </a:r>
          </a:p>
          <a:p>
            <a:pPr marL="0" indent="0">
              <a:buNone/>
            </a:pPr>
            <a:endParaRPr lang="en-IN" dirty="0"/>
          </a:p>
          <a:p>
            <a:pPr marL="0" indent="0">
              <a:buNone/>
            </a:pPr>
            <a:r>
              <a:rPr lang="en-IN" dirty="0" err="1"/>
              <a:t>def</a:t>
            </a:r>
            <a:r>
              <a:rPr lang="en-IN" dirty="0"/>
              <a:t> </a:t>
            </a:r>
            <a:r>
              <a:rPr lang="en-IN" dirty="0" err="1"/>
              <a:t>example_function</a:t>
            </a:r>
            <a:r>
              <a:rPr lang="en-IN" dirty="0"/>
              <a:t>():</a:t>
            </a:r>
          </a:p>
          <a:p>
            <a:pPr marL="0" indent="0">
              <a:buNone/>
            </a:pPr>
            <a:r>
              <a:rPr lang="en-IN" dirty="0"/>
              <a:t>    # Local variable</a:t>
            </a:r>
          </a:p>
          <a:p>
            <a:pPr marL="0" indent="0">
              <a:buNone/>
            </a:pPr>
            <a:r>
              <a:rPr lang="en-IN" dirty="0"/>
              <a:t>    y = 5</a:t>
            </a:r>
          </a:p>
          <a:p>
            <a:pPr marL="0" indent="0">
              <a:buNone/>
            </a:pPr>
            <a:r>
              <a:rPr lang="en-IN" dirty="0"/>
              <a:t>    print("Inside function:")</a:t>
            </a:r>
          </a:p>
          <a:p>
            <a:pPr marL="0" indent="0">
              <a:buNone/>
            </a:pPr>
            <a:r>
              <a:rPr lang="en-IN" dirty="0"/>
              <a:t>    print("Local variable y:", y)  # Local variable</a:t>
            </a:r>
          </a:p>
          <a:p>
            <a:pPr marL="0" indent="0">
              <a:buNone/>
            </a:pPr>
            <a:r>
              <a:rPr lang="en-IN" dirty="0"/>
              <a:t>    print("Global variable x:", x)  # Global variable can be accessed inside the function</a:t>
            </a:r>
          </a:p>
          <a:p>
            <a:pPr marL="0" indent="0">
              <a:buNone/>
            </a:pPr>
            <a:endParaRPr lang="en-IN" dirty="0"/>
          </a:p>
          <a:p>
            <a:pPr marL="0" indent="0">
              <a:buNone/>
            </a:pPr>
            <a:r>
              <a:rPr lang="en-IN" dirty="0" err="1"/>
              <a:t>def</a:t>
            </a:r>
            <a:r>
              <a:rPr lang="en-IN" dirty="0"/>
              <a:t> </a:t>
            </a:r>
            <a:r>
              <a:rPr lang="en-IN" dirty="0" err="1"/>
              <a:t>modify_global</a:t>
            </a:r>
            <a:r>
              <a:rPr lang="en-IN" dirty="0"/>
              <a:t>():</a:t>
            </a:r>
          </a:p>
          <a:p>
            <a:pPr marL="0" indent="0">
              <a:buNone/>
            </a:pPr>
            <a:r>
              <a:rPr lang="en-IN" dirty="0"/>
              <a:t>    global x  # This allows us to modify the global variable 'x'</a:t>
            </a:r>
          </a:p>
          <a:p>
            <a:pPr marL="0" indent="0">
              <a:buNone/>
            </a:pPr>
            <a:r>
              <a:rPr lang="en-IN" dirty="0"/>
              <a:t>    print("Before modifying, global x =", x)</a:t>
            </a:r>
          </a:p>
          <a:p>
            <a:pPr marL="0" indent="0">
              <a:buNone/>
            </a:pPr>
            <a:r>
              <a:rPr lang="en-IN" dirty="0"/>
              <a:t>    x = 20  # Modifying global variable</a:t>
            </a:r>
          </a:p>
          <a:p>
            <a:pPr marL="0" indent="0">
              <a:buNone/>
            </a:pPr>
            <a:r>
              <a:rPr lang="en-IN" dirty="0"/>
              <a:t>    print("After modifying, global x =", x)</a:t>
            </a:r>
          </a:p>
          <a:p>
            <a:pPr marL="0" indent="0">
              <a:buNone/>
            </a:pPr>
            <a:endParaRPr lang="en-IN" dirty="0"/>
          </a:p>
          <a:p>
            <a:pPr marL="0" indent="0">
              <a:buNone/>
            </a:pPr>
            <a:r>
              <a:rPr lang="en-IN" dirty="0" err="1"/>
              <a:t>def</a:t>
            </a:r>
            <a:r>
              <a:rPr lang="en-IN" dirty="0"/>
              <a:t> </a:t>
            </a:r>
            <a:r>
              <a:rPr lang="en-IN" dirty="0" err="1"/>
              <a:t>another_function</a:t>
            </a:r>
            <a:r>
              <a:rPr lang="en-IN" dirty="0"/>
              <a:t>():</a:t>
            </a:r>
          </a:p>
          <a:p>
            <a:pPr marL="0" indent="0">
              <a:buNone/>
            </a:pPr>
            <a:r>
              <a:rPr lang="en-IN" dirty="0"/>
              <a:t>    # Accessing global variable directly</a:t>
            </a:r>
          </a:p>
          <a:p>
            <a:pPr marL="0" indent="0">
              <a:buNone/>
            </a:pPr>
            <a:r>
              <a:rPr lang="en-IN" dirty="0"/>
              <a:t>    print("Inside </a:t>
            </a:r>
            <a:r>
              <a:rPr lang="en-IN" dirty="0" err="1"/>
              <a:t>another_function</a:t>
            </a:r>
            <a:r>
              <a:rPr lang="en-IN" dirty="0"/>
              <a:t>, global x:", x)</a:t>
            </a:r>
          </a:p>
          <a:p>
            <a:endParaRPr lang="en-IN" dirty="0"/>
          </a:p>
        </p:txBody>
      </p:sp>
      <p:sp>
        <p:nvSpPr>
          <p:cNvPr id="4" name="Content Placeholder 3"/>
          <p:cNvSpPr>
            <a:spLocks noGrp="1"/>
          </p:cNvSpPr>
          <p:nvPr>
            <p:ph sz="half" idx="2"/>
          </p:nvPr>
        </p:nvSpPr>
        <p:spPr/>
        <p:txBody>
          <a:bodyPr>
            <a:normAutofit fontScale="55000" lnSpcReduction="20000"/>
          </a:bodyPr>
          <a:lstStyle/>
          <a:p>
            <a:pPr marL="0" indent="0">
              <a:buNone/>
            </a:pPr>
            <a:r>
              <a:rPr lang="en-IN" dirty="0"/>
              <a:t># Main program</a:t>
            </a:r>
          </a:p>
          <a:p>
            <a:pPr marL="0" indent="0">
              <a:buNone/>
            </a:pPr>
            <a:r>
              <a:rPr lang="en-IN" dirty="0"/>
              <a:t>print("In main program, global x:", x)</a:t>
            </a:r>
          </a:p>
          <a:p>
            <a:pPr marL="0" indent="0">
              <a:buNone/>
            </a:pPr>
            <a:r>
              <a:rPr lang="en-IN" dirty="0" err="1"/>
              <a:t>example_function</a:t>
            </a:r>
            <a:r>
              <a:rPr lang="en-IN" dirty="0"/>
              <a:t>()</a:t>
            </a:r>
          </a:p>
          <a:p>
            <a:pPr marL="0" indent="0">
              <a:buNone/>
            </a:pPr>
            <a:endParaRPr lang="en-IN" dirty="0"/>
          </a:p>
          <a:p>
            <a:pPr marL="0" indent="0">
              <a:buNone/>
            </a:pPr>
            <a:r>
              <a:rPr lang="en-IN" dirty="0"/>
              <a:t># Modify the global variable using a function</a:t>
            </a:r>
          </a:p>
          <a:p>
            <a:pPr marL="0" indent="0">
              <a:buNone/>
            </a:pPr>
            <a:r>
              <a:rPr lang="en-IN" dirty="0" err="1"/>
              <a:t>modify_global</a:t>
            </a:r>
            <a:r>
              <a:rPr lang="en-IN" dirty="0"/>
              <a:t>()</a:t>
            </a:r>
          </a:p>
          <a:p>
            <a:pPr marL="0" indent="0">
              <a:buNone/>
            </a:pPr>
            <a:endParaRPr lang="en-IN" dirty="0"/>
          </a:p>
          <a:p>
            <a:pPr marL="0" indent="0">
              <a:buNone/>
            </a:pPr>
            <a:r>
              <a:rPr lang="en-IN" dirty="0"/>
              <a:t># Access the modified global variable</a:t>
            </a:r>
          </a:p>
          <a:p>
            <a:pPr marL="0" indent="0">
              <a:buNone/>
            </a:pPr>
            <a:r>
              <a:rPr lang="en-IN" dirty="0" err="1"/>
              <a:t>another_function</a:t>
            </a:r>
            <a:r>
              <a:rPr lang="en-IN" dirty="0"/>
              <a:t>()</a:t>
            </a:r>
          </a:p>
          <a:p>
            <a:pPr marL="0" indent="0">
              <a:buNone/>
            </a:pPr>
            <a:endParaRPr lang="en-IN" dirty="0"/>
          </a:p>
          <a:p>
            <a:pPr marL="0" indent="0">
              <a:buNone/>
            </a:pPr>
            <a:r>
              <a:rPr lang="en-IN" dirty="0"/>
              <a:t># After modification, the global variable is updated</a:t>
            </a:r>
          </a:p>
          <a:p>
            <a:pPr marL="0" indent="0">
              <a:buNone/>
            </a:pPr>
            <a:r>
              <a:rPr lang="en-IN" dirty="0"/>
              <a:t>print("In main program, global x after modification:", x)</a:t>
            </a:r>
          </a:p>
          <a:p>
            <a:endParaRPr lang="en-IN" dirty="0"/>
          </a:p>
          <a:p>
            <a:endParaRPr lang="en-IN" dirty="0"/>
          </a:p>
        </p:txBody>
      </p:sp>
    </p:spTree>
    <p:extLst>
      <p:ext uri="{BB962C8B-B14F-4D97-AF65-F5344CB8AC3E}">
        <p14:creationId xmlns:p14="http://schemas.microsoft.com/office/powerpoint/2010/main" val="7604866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Contd</a:t>
            </a:r>
            <a:r>
              <a:rPr lang="en-IN" dirty="0" smtClean="0"/>
              <a:t>…</a:t>
            </a:r>
            <a:endParaRPr lang="en-IN" dirty="0"/>
          </a:p>
        </p:txBody>
      </p:sp>
      <p:sp>
        <p:nvSpPr>
          <p:cNvPr id="3" name="Content Placeholder 2"/>
          <p:cNvSpPr>
            <a:spLocks noGrp="1"/>
          </p:cNvSpPr>
          <p:nvPr>
            <p:ph sz="half" idx="1"/>
          </p:nvPr>
        </p:nvSpPr>
        <p:spPr/>
        <p:txBody>
          <a:bodyPr>
            <a:normAutofit fontScale="62500" lnSpcReduction="20000"/>
          </a:bodyPr>
          <a:lstStyle/>
          <a:p>
            <a:pPr marL="0" indent="0">
              <a:buNone/>
            </a:pPr>
            <a:r>
              <a:rPr lang="en-IN" dirty="0" smtClean="0"/>
              <a:t>1. Global </a:t>
            </a:r>
            <a:r>
              <a:rPr lang="en-IN" dirty="0"/>
              <a:t>Variable (x</a:t>
            </a:r>
            <a:r>
              <a:rPr lang="en-IN" dirty="0" smtClean="0"/>
              <a:t>):</a:t>
            </a:r>
          </a:p>
          <a:p>
            <a:pPr marL="0" indent="0">
              <a:buNone/>
            </a:pPr>
            <a:r>
              <a:rPr lang="en-IN" dirty="0" smtClean="0"/>
              <a:t>x </a:t>
            </a:r>
            <a:r>
              <a:rPr lang="en-IN" dirty="0"/>
              <a:t>is defined outside any function, making it a global variable</a:t>
            </a:r>
            <a:r>
              <a:rPr lang="en-IN" dirty="0" smtClean="0"/>
              <a:t>. It </a:t>
            </a:r>
            <a:r>
              <a:rPr lang="en-IN" dirty="0"/>
              <a:t>is accessible in all functions, but it can be modified inside a function only if you declare it as global using the global keyword</a:t>
            </a:r>
            <a:r>
              <a:rPr lang="en-IN" dirty="0" smtClean="0"/>
              <a:t>.</a:t>
            </a:r>
          </a:p>
          <a:p>
            <a:pPr marL="0" indent="0">
              <a:buNone/>
            </a:pPr>
            <a:r>
              <a:rPr lang="en-IN" dirty="0" smtClean="0"/>
              <a:t>2. Local </a:t>
            </a:r>
            <a:r>
              <a:rPr lang="en-IN" dirty="0"/>
              <a:t>Variable (y</a:t>
            </a:r>
            <a:r>
              <a:rPr lang="en-IN" dirty="0" smtClean="0"/>
              <a:t>):</a:t>
            </a:r>
          </a:p>
          <a:p>
            <a:pPr marL="0" indent="0">
              <a:buNone/>
            </a:pPr>
            <a:r>
              <a:rPr lang="en-IN" dirty="0" smtClean="0"/>
              <a:t>y </a:t>
            </a:r>
            <a:r>
              <a:rPr lang="en-IN" dirty="0"/>
              <a:t>is defined inside the </a:t>
            </a:r>
            <a:r>
              <a:rPr lang="en-IN" dirty="0" err="1"/>
              <a:t>example_function</a:t>
            </a:r>
            <a:r>
              <a:rPr lang="en-IN" dirty="0"/>
              <a:t> and can only be accessed within that function. It is not accessible outside of the function</a:t>
            </a:r>
            <a:r>
              <a:rPr lang="en-IN" dirty="0" smtClean="0"/>
              <a:t>.</a:t>
            </a:r>
          </a:p>
          <a:p>
            <a:pPr marL="0" indent="0">
              <a:buNone/>
            </a:pPr>
            <a:r>
              <a:rPr lang="en-IN" dirty="0" smtClean="0"/>
              <a:t>3. Modifying </a:t>
            </a:r>
            <a:r>
              <a:rPr lang="en-IN" dirty="0"/>
              <a:t>a Global Variable</a:t>
            </a:r>
            <a:r>
              <a:rPr lang="en-IN" dirty="0" smtClean="0"/>
              <a:t>:</a:t>
            </a:r>
          </a:p>
          <a:p>
            <a:pPr marL="0" indent="0">
              <a:buNone/>
            </a:pPr>
            <a:r>
              <a:rPr lang="en-IN" dirty="0" smtClean="0"/>
              <a:t>The </a:t>
            </a:r>
            <a:r>
              <a:rPr lang="en-IN" dirty="0" err="1"/>
              <a:t>modify_global</a:t>
            </a:r>
            <a:r>
              <a:rPr lang="en-IN" dirty="0"/>
              <a:t>() function shows how to modify a global variable inside a function using the global keyword</a:t>
            </a:r>
            <a:r>
              <a:rPr lang="en-IN" dirty="0" smtClean="0"/>
              <a:t>.</a:t>
            </a:r>
          </a:p>
          <a:p>
            <a:pPr marL="0" indent="0">
              <a:buNone/>
            </a:pPr>
            <a:r>
              <a:rPr lang="en-IN" dirty="0" smtClean="0"/>
              <a:t>Without </a:t>
            </a:r>
            <a:r>
              <a:rPr lang="en-IN" dirty="0"/>
              <a:t>the global keyword, trying to assign a value to x inside the function would create a new local variable x, and it would not affect the global x.</a:t>
            </a:r>
          </a:p>
        </p:txBody>
      </p:sp>
      <p:sp>
        <p:nvSpPr>
          <p:cNvPr id="4" name="Content Placeholder 3"/>
          <p:cNvSpPr>
            <a:spLocks noGrp="1"/>
          </p:cNvSpPr>
          <p:nvPr>
            <p:ph sz="half" idx="2"/>
          </p:nvPr>
        </p:nvSpPr>
        <p:spPr/>
        <p:txBody>
          <a:bodyPr>
            <a:normAutofit fontScale="62500" lnSpcReduction="20000"/>
          </a:bodyPr>
          <a:lstStyle/>
          <a:p>
            <a:r>
              <a:rPr lang="en-IN" dirty="0" smtClean="0"/>
              <a:t>Output</a:t>
            </a:r>
          </a:p>
          <a:p>
            <a:pPr marL="0" indent="0">
              <a:buNone/>
            </a:pPr>
            <a:r>
              <a:rPr lang="en-IN" dirty="0"/>
              <a:t>In main program, global x: 10</a:t>
            </a:r>
          </a:p>
          <a:p>
            <a:pPr marL="0" indent="0">
              <a:buNone/>
            </a:pPr>
            <a:r>
              <a:rPr lang="en-IN" dirty="0"/>
              <a:t>Inside function:</a:t>
            </a:r>
          </a:p>
          <a:p>
            <a:pPr marL="0" indent="0">
              <a:buNone/>
            </a:pPr>
            <a:r>
              <a:rPr lang="en-IN" dirty="0"/>
              <a:t>Local variable y: 5</a:t>
            </a:r>
          </a:p>
          <a:p>
            <a:pPr marL="0" indent="0">
              <a:buNone/>
            </a:pPr>
            <a:r>
              <a:rPr lang="en-IN" dirty="0"/>
              <a:t>Global variable x: 10</a:t>
            </a:r>
          </a:p>
          <a:p>
            <a:pPr marL="0" indent="0">
              <a:buNone/>
            </a:pPr>
            <a:r>
              <a:rPr lang="en-IN" dirty="0"/>
              <a:t>Before modifying, global x = 10</a:t>
            </a:r>
          </a:p>
          <a:p>
            <a:pPr marL="0" indent="0">
              <a:buNone/>
            </a:pPr>
            <a:r>
              <a:rPr lang="en-IN" dirty="0"/>
              <a:t>After modifying, global x = 20</a:t>
            </a:r>
          </a:p>
          <a:p>
            <a:pPr marL="0" indent="0">
              <a:buNone/>
            </a:pPr>
            <a:r>
              <a:rPr lang="en-IN" dirty="0"/>
              <a:t>Inside </a:t>
            </a:r>
            <a:r>
              <a:rPr lang="en-IN" dirty="0" err="1"/>
              <a:t>another_function</a:t>
            </a:r>
            <a:r>
              <a:rPr lang="en-IN" dirty="0"/>
              <a:t>, global x: 20</a:t>
            </a:r>
          </a:p>
          <a:p>
            <a:pPr marL="0" indent="0">
              <a:buNone/>
            </a:pPr>
            <a:r>
              <a:rPr lang="en-IN" dirty="0"/>
              <a:t>In main program, global x after modification: 20</a:t>
            </a:r>
          </a:p>
          <a:p>
            <a:endParaRPr lang="en-IN" dirty="0"/>
          </a:p>
        </p:txBody>
      </p:sp>
    </p:spTree>
    <p:extLst>
      <p:ext uri="{BB962C8B-B14F-4D97-AF65-F5344CB8AC3E}">
        <p14:creationId xmlns:p14="http://schemas.microsoft.com/office/powerpoint/2010/main" val="33195570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69259D-3D99-2B0C-98EA-2798C9021705}"/>
              </a:ext>
            </a:extLst>
          </p:cNvPr>
          <p:cNvSpPr>
            <a:spLocks noGrp="1"/>
          </p:cNvSpPr>
          <p:nvPr>
            <p:ph type="title"/>
          </p:nvPr>
        </p:nvSpPr>
        <p:spPr/>
        <p:txBody>
          <a:bodyPr/>
          <a:lstStyle/>
          <a:p>
            <a:r>
              <a:rPr lang="en-IN" dirty="0"/>
              <a:t>Pass by value and pass by reference</a:t>
            </a:r>
            <a:endParaRPr lang="en-GB" dirty="0"/>
          </a:p>
        </p:txBody>
      </p:sp>
      <p:pic>
        <p:nvPicPr>
          <p:cNvPr id="8" name="Picture 2">
            <a:extLst>
              <a:ext uri="{FF2B5EF4-FFF2-40B4-BE49-F238E27FC236}">
                <a16:creationId xmlns:a16="http://schemas.microsoft.com/office/drawing/2014/main" xmlns="" id="{4ABC4035-4962-17DA-DD82-ADB1401FB76B}"/>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838200" y="2320975"/>
            <a:ext cx="5181600" cy="336063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sz="half" idx="2"/>
          </p:nvPr>
        </p:nvSpPr>
        <p:spPr/>
        <p:txBody>
          <a:bodyPr/>
          <a:lstStyle/>
          <a:p>
            <a:r>
              <a:rPr lang="en-IN" b="1" dirty="0">
                <a:latin typeface="Arial" panose="020B0604020202020204" pitchFamily="34" charset="0"/>
                <a:cs typeface="Arial" panose="020B0604020202020204" pitchFamily="34" charset="0"/>
              </a:rPr>
              <a:t>Pass by value: </a:t>
            </a:r>
            <a:r>
              <a:rPr lang="en-GB" dirty="0">
                <a:latin typeface="Arial" panose="020B0604020202020204" pitchFamily="34" charset="0"/>
                <a:cs typeface="Arial" panose="020B0604020202020204" pitchFamily="34" charset="0"/>
              </a:rPr>
              <a:t>In a pass by value system, a copy of the data (such as a variable's value) is passed to a function or assigned to another variable. Any changes made to the copy do not affect the original data.</a:t>
            </a:r>
            <a:endParaRPr lang="en-IN" dirty="0">
              <a:latin typeface="Arial" panose="020B060402020202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39208841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F3CF97-D2EA-7418-7EF4-30C54AA40DA0}"/>
              </a:ext>
            </a:extLst>
          </p:cNvPr>
          <p:cNvSpPr>
            <a:spLocks noGrp="1"/>
          </p:cNvSpPr>
          <p:nvPr>
            <p:ph type="title"/>
          </p:nvPr>
        </p:nvSpPr>
        <p:spPr/>
        <p:txBody>
          <a:bodyPr/>
          <a:lstStyle/>
          <a:p>
            <a:r>
              <a:rPr lang="en-IN" dirty="0"/>
              <a:t>Cont..</a:t>
            </a:r>
            <a:endParaRPr lang="en-GB" dirty="0"/>
          </a:p>
        </p:txBody>
      </p:sp>
      <p:sp>
        <p:nvSpPr>
          <p:cNvPr id="3" name="Content Placeholder 2">
            <a:extLst>
              <a:ext uri="{FF2B5EF4-FFF2-40B4-BE49-F238E27FC236}">
                <a16:creationId xmlns:a16="http://schemas.microsoft.com/office/drawing/2014/main" xmlns="" id="{BF52F4AB-7A6F-D69C-3248-C1A3DB3DFE87}"/>
              </a:ext>
            </a:extLst>
          </p:cNvPr>
          <p:cNvSpPr>
            <a:spLocks noGrp="1"/>
          </p:cNvSpPr>
          <p:nvPr>
            <p:ph idx="1"/>
          </p:nvPr>
        </p:nvSpPr>
        <p:spPr>
          <a:xfrm>
            <a:off x="609600" y="1600200"/>
            <a:ext cx="4696496" cy="4876800"/>
          </a:xfrm>
        </p:spPr>
        <p:txBody>
          <a:bodyPr>
            <a:normAutofit/>
          </a:bodyPr>
          <a:lstStyle/>
          <a:p>
            <a:r>
              <a:rPr lang="en-IN" b="1" dirty="0" smtClean="0">
                <a:latin typeface="Arial" panose="020B0604020202020204" pitchFamily="34" charset="0"/>
                <a:cs typeface="Arial" panose="020B0604020202020204" pitchFamily="34" charset="0"/>
              </a:rPr>
              <a:t>Pass </a:t>
            </a:r>
            <a:r>
              <a:rPr lang="en-IN" b="1" dirty="0">
                <a:latin typeface="Arial" panose="020B0604020202020204" pitchFamily="34" charset="0"/>
                <a:cs typeface="Arial" panose="020B0604020202020204" pitchFamily="34" charset="0"/>
              </a:rPr>
              <a:t>by reference: </a:t>
            </a:r>
            <a:r>
              <a:rPr lang="en-GB" b="1" i="0" dirty="0">
                <a:effectLst/>
                <a:latin typeface="Arial" panose="020B0604020202020204" pitchFamily="34" charset="0"/>
                <a:cs typeface="Arial" panose="020B0604020202020204" pitchFamily="34" charset="0"/>
              </a:rPr>
              <a:t> </a:t>
            </a:r>
            <a:r>
              <a:rPr lang="en-GB" b="0" i="0" dirty="0">
                <a:effectLst/>
                <a:latin typeface="Arial" panose="020B0604020202020204" pitchFamily="34" charset="0"/>
                <a:cs typeface="Arial" panose="020B0604020202020204" pitchFamily="34" charset="0"/>
              </a:rPr>
              <a:t>In contrast, pass by reference involves passing a reference to the original data or object rather than a copy. Any changes made to the referenced object inside a function or operation are reflected in the original object.</a:t>
            </a:r>
            <a:endParaRPr lang="en-GB" dirty="0">
              <a:latin typeface="Arial" panose="020B0604020202020204" pitchFamily="34" charset="0"/>
              <a:cs typeface="Arial" panose="020B0604020202020204" pitchFamily="34" charset="0"/>
            </a:endParaRPr>
          </a:p>
        </p:txBody>
      </p:sp>
      <p:pic>
        <p:nvPicPr>
          <p:cNvPr id="4" name="Picture 4">
            <a:extLst>
              <a:ext uri="{FF2B5EF4-FFF2-40B4-BE49-F238E27FC236}">
                <a16:creationId xmlns:a16="http://schemas.microsoft.com/office/drawing/2014/main" xmlns="" id="{EE16F766-E426-9BAD-932E-9C486CA92BE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72200" y="1600201"/>
            <a:ext cx="5506034" cy="4336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12638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Contd</a:t>
            </a:r>
            <a:r>
              <a:rPr lang="en-IN" dirty="0" smtClean="0"/>
              <a:t>…</a:t>
            </a:r>
            <a:endParaRPr lang="en-IN" dirty="0"/>
          </a:p>
        </p:txBody>
      </p:sp>
      <p:sp>
        <p:nvSpPr>
          <p:cNvPr id="3" name="Content Placeholder 2"/>
          <p:cNvSpPr>
            <a:spLocks noGrp="1"/>
          </p:cNvSpPr>
          <p:nvPr>
            <p:ph sz="half" idx="1"/>
          </p:nvPr>
        </p:nvSpPr>
        <p:spPr>
          <a:xfrm>
            <a:off x="609600" y="1673352"/>
            <a:ext cx="10972800" cy="4718304"/>
          </a:xfrm>
        </p:spPr>
        <p:txBody>
          <a:bodyPr>
            <a:normAutofit/>
          </a:bodyPr>
          <a:lstStyle/>
          <a:p>
            <a:r>
              <a:rPr lang="en-IN" dirty="0"/>
              <a:t>In Python, </a:t>
            </a:r>
            <a:r>
              <a:rPr lang="en-IN" b="1" dirty="0"/>
              <a:t>pass by value</a:t>
            </a:r>
            <a:r>
              <a:rPr lang="en-IN" dirty="0"/>
              <a:t> is not strictly applicable in the way it is in other languages like C or Java, since Python uses </a:t>
            </a:r>
            <a:r>
              <a:rPr lang="en-IN" b="1" dirty="0"/>
              <a:t>pass by reference</a:t>
            </a:r>
            <a:r>
              <a:rPr lang="en-IN" dirty="0"/>
              <a:t> for both mutable and immutable </a:t>
            </a:r>
            <a:r>
              <a:rPr lang="en-IN" dirty="0" smtClean="0"/>
              <a:t>objects.</a:t>
            </a:r>
          </a:p>
          <a:p>
            <a:r>
              <a:rPr lang="en-IN" dirty="0" smtClean="0"/>
              <a:t>However</a:t>
            </a:r>
            <a:r>
              <a:rPr lang="en-IN" dirty="0"/>
              <a:t>, </a:t>
            </a:r>
            <a:r>
              <a:rPr lang="en-IN" dirty="0" smtClean="0"/>
              <a:t> it can simulate </a:t>
            </a:r>
            <a:r>
              <a:rPr lang="en-IN" dirty="0"/>
              <a:t>"pass by value" </a:t>
            </a:r>
            <a:r>
              <a:rPr lang="en-IN" dirty="0" err="1"/>
              <a:t>behavior</a:t>
            </a:r>
            <a:r>
              <a:rPr lang="en-IN" dirty="0"/>
              <a:t> with immutable objects like integers, strings, and tuples, because they cannot be modified in place. </a:t>
            </a:r>
            <a:endParaRPr lang="en-IN" dirty="0" smtClean="0"/>
          </a:p>
          <a:p>
            <a:r>
              <a:rPr lang="en-IN" dirty="0" smtClean="0"/>
              <a:t>When </a:t>
            </a:r>
            <a:r>
              <a:rPr lang="en-IN" dirty="0"/>
              <a:t>you pass an immutable object to a function, the object itself cannot be changed; only a new reference to an object can be created.</a:t>
            </a:r>
          </a:p>
          <a:p>
            <a:endParaRPr lang="en-IN" dirty="0"/>
          </a:p>
        </p:txBody>
      </p:sp>
    </p:spTree>
    <p:extLst>
      <p:ext uri="{BB962C8B-B14F-4D97-AF65-F5344CB8AC3E}">
        <p14:creationId xmlns:p14="http://schemas.microsoft.com/office/powerpoint/2010/main" val="37058611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Immutable Objects (e.g., integers, strings, tuples)</a:t>
            </a:r>
          </a:p>
        </p:txBody>
      </p:sp>
      <p:sp>
        <p:nvSpPr>
          <p:cNvPr id="3" name="Content Placeholder 2"/>
          <p:cNvSpPr>
            <a:spLocks noGrp="1"/>
          </p:cNvSpPr>
          <p:nvPr>
            <p:ph sz="half" idx="1"/>
          </p:nvPr>
        </p:nvSpPr>
        <p:spPr/>
        <p:txBody>
          <a:bodyPr>
            <a:normAutofit fontScale="92500" lnSpcReduction="10000"/>
          </a:bodyPr>
          <a:lstStyle/>
          <a:p>
            <a:pPr marL="0" indent="0">
              <a:buNone/>
            </a:pPr>
            <a:r>
              <a:rPr lang="en-IN" dirty="0" err="1"/>
              <a:t>def</a:t>
            </a:r>
            <a:r>
              <a:rPr lang="en-IN" dirty="0"/>
              <a:t> </a:t>
            </a:r>
            <a:r>
              <a:rPr lang="en-IN" dirty="0" err="1"/>
              <a:t>modify_value</a:t>
            </a:r>
            <a:r>
              <a:rPr lang="en-IN" dirty="0"/>
              <a:t>(x):</a:t>
            </a:r>
          </a:p>
          <a:p>
            <a:pPr marL="0" indent="0">
              <a:buNone/>
            </a:pPr>
            <a:r>
              <a:rPr lang="en-IN" dirty="0"/>
              <a:t>    x = 10  # This creates a new integer object, does not affect the original </a:t>
            </a:r>
            <a:r>
              <a:rPr lang="en-IN" dirty="0" smtClean="0"/>
              <a:t>one</a:t>
            </a:r>
            <a:endParaRPr lang="en-IN" dirty="0"/>
          </a:p>
          <a:p>
            <a:pPr marL="0" indent="0">
              <a:buNone/>
            </a:pPr>
            <a:r>
              <a:rPr lang="en-IN" dirty="0"/>
              <a:t>a = 5</a:t>
            </a:r>
          </a:p>
          <a:p>
            <a:pPr marL="0" indent="0">
              <a:buNone/>
            </a:pPr>
            <a:r>
              <a:rPr lang="en-IN" dirty="0" err="1"/>
              <a:t>modify_value</a:t>
            </a:r>
            <a:r>
              <a:rPr lang="en-IN" dirty="0"/>
              <a:t>(a)</a:t>
            </a:r>
          </a:p>
          <a:p>
            <a:pPr marL="0" indent="0">
              <a:buNone/>
            </a:pPr>
            <a:r>
              <a:rPr lang="en-IN" dirty="0"/>
              <a:t>print(a)  # Output: 5</a:t>
            </a:r>
          </a:p>
          <a:p>
            <a:endParaRPr lang="en-IN" dirty="0"/>
          </a:p>
        </p:txBody>
      </p:sp>
      <p:sp>
        <p:nvSpPr>
          <p:cNvPr id="4" name="Content Placeholder 3"/>
          <p:cNvSpPr>
            <a:spLocks noGrp="1"/>
          </p:cNvSpPr>
          <p:nvPr>
            <p:ph sz="half" idx="2"/>
          </p:nvPr>
        </p:nvSpPr>
        <p:spPr/>
        <p:txBody>
          <a:bodyPr>
            <a:normAutofit fontScale="92500" lnSpcReduction="10000"/>
          </a:bodyPr>
          <a:lstStyle/>
          <a:p>
            <a:r>
              <a:rPr lang="en-IN" dirty="0"/>
              <a:t>In the </a:t>
            </a:r>
            <a:r>
              <a:rPr lang="en-IN" dirty="0" smtClean="0"/>
              <a:t>example, </a:t>
            </a:r>
            <a:r>
              <a:rPr lang="en-IN" dirty="0"/>
              <a:t>the integer a is passed to the function, but since integers are immutable, any modification to x inside the function does not affect a</a:t>
            </a:r>
            <a:r>
              <a:rPr lang="en-IN" dirty="0" smtClean="0"/>
              <a:t>. </a:t>
            </a:r>
          </a:p>
          <a:p>
            <a:r>
              <a:rPr lang="en-IN" dirty="0"/>
              <a:t>For immutable objects, it behaves similarly to "pass by value" in other languages. Since the object cannot be changed in place, any modification within the function results in the creation of a new object.</a:t>
            </a:r>
          </a:p>
        </p:txBody>
      </p:sp>
    </p:spTree>
    <p:extLst>
      <p:ext uri="{BB962C8B-B14F-4D97-AF65-F5344CB8AC3E}">
        <p14:creationId xmlns:p14="http://schemas.microsoft.com/office/powerpoint/2010/main" val="16433408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Mutable Objects (e.g., lists, dictionaries, sets)</a:t>
            </a:r>
          </a:p>
        </p:txBody>
      </p:sp>
      <p:sp>
        <p:nvSpPr>
          <p:cNvPr id="3" name="Content Placeholder 2"/>
          <p:cNvSpPr>
            <a:spLocks noGrp="1"/>
          </p:cNvSpPr>
          <p:nvPr>
            <p:ph sz="half" idx="1"/>
          </p:nvPr>
        </p:nvSpPr>
        <p:spPr/>
        <p:txBody>
          <a:bodyPr/>
          <a:lstStyle/>
          <a:p>
            <a:pPr marL="0" indent="0">
              <a:buNone/>
            </a:pPr>
            <a:r>
              <a:rPr lang="en-IN" dirty="0" err="1"/>
              <a:t>def</a:t>
            </a:r>
            <a:r>
              <a:rPr lang="en-IN" dirty="0"/>
              <a:t> </a:t>
            </a:r>
            <a:r>
              <a:rPr lang="en-IN" dirty="0" err="1"/>
              <a:t>modify_list</a:t>
            </a:r>
            <a:r>
              <a:rPr lang="en-IN" dirty="0"/>
              <a:t>(</a:t>
            </a:r>
            <a:r>
              <a:rPr lang="en-IN" dirty="0" err="1"/>
              <a:t>lst</a:t>
            </a:r>
            <a:r>
              <a:rPr lang="en-IN" dirty="0"/>
              <a:t>):</a:t>
            </a:r>
          </a:p>
          <a:p>
            <a:pPr marL="0" indent="0">
              <a:buNone/>
            </a:pPr>
            <a:r>
              <a:rPr lang="en-IN" dirty="0"/>
              <a:t>    </a:t>
            </a:r>
            <a:r>
              <a:rPr lang="en-IN" dirty="0" err="1"/>
              <a:t>lst.append</a:t>
            </a:r>
            <a:r>
              <a:rPr lang="en-IN" dirty="0"/>
              <a:t>(4)  # This modifies the original </a:t>
            </a:r>
            <a:r>
              <a:rPr lang="en-IN" dirty="0" smtClean="0"/>
              <a:t>list</a:t>
            </a:r>
            <a:endParaRPr lang="en-IN" dirty="0"/>
          </a:p>
          <a:p>
            <a:pPr marL="0" indent="0">
              <a:buNone/>
            </a:pPr>
            <a:r>
              <a:rPr lang="en-IN" dirty="0" err="1"/>
              <a:t>my_list</a:t>
            </a:r>
            <a:r>
              <a:rPr lang="en-IN" dirty="0"/>
              <a:t> = [1, 2, 3]</a:t>
            </a:r>
          </a:p>
          <a:p>
            <a:pPr marL="0" indent="0">
              <a:buNone/>
            </a:pPr>
            <a:r>
              <a:rPr lang="en-IN" dirty="0" err="1"/>
              <a:t>modify_list</a:t>
            </a:r>
            <a:r>
              <a:rPr lang="en-IN" dirty="0"/>
              <a:t>(</a:t>
            </a:r>
            <a:r>
              <a:rPr lang="en-IN" dirty="0" err="1"/>
              <a:t>my_list</a:t>
            </a:r>
            <a:r>
              <a:rPr lang="en-IN" dirty="0"/>
              <a:t>)</a:t>
            </a:r>
          </a:p>
          <a:p>
            <a:pPr marL="0" indent="0">
              <a:buNone/>
            </a:pPr>
            <a:r>
              <a:rPr lang="en-IN" dirty="0"/>
              <a:t>print(</a:t>
            </a:r>
            <a:r>
              <a:rPr lang="en-IN" dirty="0" err="1"/>
              <a:t>my_list</a:t>
            </a:r>
            <a:r>
              <a:rPr lang="en-IN" dirty="0"/>
              <a:t>)  # Output: [1, 2, 3, 4] (the original list is modified)</a:t>
            </a:r>
          </a:p>
          <a:p>
            <a:endParaRPr lang="en-IN" dirty="0"/>
          </a:p>
        </p:txBody>
      </p:sp>
      <p:sp>
        <p:nvSpPr>
          <p:cNvPr id="4" name="Content Placeholder 3"/>
          <p:cNvSpPr>
            <a:spLocks noGrp="1"/>
          </p:cNvSpPr>
          <p:nvPr>
            <p:ph sz="half" idx="2"/>
          </p:nvPr>
        </p:nvSpPr>
        <p:spPr/>
        <p:txBody>
          <a:bodyPr/>
          <a:lstStyle/>
          <a:p>
            <a:r>
              <a:rPr lang="en-IN" dirty="0"/>
              <a:t>For mutable objects, changes made inside the function will affect the original object because the reference to the object is passed</a:t>
            </a:r>
            <a:r>
              <a:rPr lang="en-IN" dirty="0" smtClean="0"/>
              <a:t>.</a:t>
            </a:r>
          </a:p>
          <a:p>
            <a:r>
              <a:rPr lang="en-IN" dirty="0" smtClean="0"/>
              <a:t>Since </a:t>
            </a:r>
            <a:r>
              <a:rPr lang="en-IN" dirty="0"/>
              <a:t>lists are mutable, the </a:t>
            </a:r>
            <a:r>
              <a:rPr lang="en-IN" dirty="0" err="1"/>
              <a:t>modify_list</a:t>
            </a:r>
            <a:r>
              <a:rPr lang="en-IN" dirty="0"/>
              <a:t> function changes the original list.</a:t>
            </a:r>
          </a:p>
        </p:txBody>
      </p:sp>
    </p:spTree>
    <p:extLst>
      <p:ext uri="{BB962C8B-B14F-4D97-AF65-F5344CB8AC3E}">
        <p14:creationId xmlns:p14="http://schemas.microsoft.com/office/powerpoint/2010/main" val="28516800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1C2C03-7BF9-AAAB-0043-8F14168D79E0}"/>
              </a:ext>
            </a:extLst>
          </p:cNvPr>
          <p:cNvSpPr>
            <a:spLocks noGrp="1"/>
          </p:cNvSpPr>
          <p:nvPr>
            <p:ph type="title"/>
          </p:nvPr>
        </p:nvSpPr>
        <p:spPr/>
        <p:txBody>
          <a:bodyPr/>
          <a:lstStyle/>
          <a:p>
            <a:r>
              <a:rPr lang="en-IN" dirty="0"/>
              <a:t>Built in functions in python</a:t>
            </a:r>
            <a:endParaRPr lang="en-GB" dirty="0"/>
          </a:p>
        </p:txBody>
      </p:sp>
      <p:sp>
        <p:nvSpPr>
          <p:cNvPr id="3" name="Content Placeholder 2">
            <a:extLst>
              <a:ext uri="{FF2B5EF4-FFF2-40B4-BE49-F238E27FC236}">
                <a16:creationId xmlns:a16="http://schemas.microsoft.com/office/drawing/2014/main" xmlns="" id="{486F44F2-FBE9-1CDB-C40A-E7A9E03EFD6B}"/>
              </a:ext>
            </a:extLst>
          </p:cNvPr>
          <p:cNvSpPr>
            <a:spLocks noGrp="1"/>
          </p:cNvSpPr>
          <p:nvPr>
            <p:ph idx="1"/>
          </p:nvPr>
        </p:nvSpPr>
        <p:spPr/>
        <p:txBody>
          <a:bodyPr/>
          <a:lstStyle/>
          <a:p>
            <a:endParaRPr lang="en-GB" b="0" i="0" dirty="0">
              <a:effectLst/>
              <a:latin typeface="Google Sans"/>
            </a:endParaRPr>
          </a:p>
          <a:p>
            <a:r>
              <a:rPr lang="en-GB" b="0" i="0" dirty="0">
                <a:effectLst/>
                <a:latin typeface="Google Sans"/>
              </a:rPr>
              <a:t>The built-in Python functions are pre-defined by the python interpreter. </a:t>
            </a:r>
          </a:p>
          <a:p>
            <a:r>
              <a:rPr lang="en-GB" b="0" i="0" dirty="0">
                <a:effectLst/>
                <a:latin typeface="Google Sans"/>
              </a:rPr>
              <a:t>These functions perform a specific task and can be used in any program, depending on the requirement of the user.</a:t>
            </a:r>
            <a:endParaRPr lang="en-GB" dirty="0">
              <a:latin typeface="Google Sans"/>
            </a:endParaRPr>
          </a:p>
          <a:p>
            <a:r>
              <a:rPr lang="en-GB" b="0" i="0" dirty="0">
                <a:effectLst/>
                <a:latin typeface="Google Sans"/>
              </a:rPr>
              <a:t>There are 68 built-in python functions in Python.</a:t>
            </a:r>
            <a:endParaRPr lang="en-GB" dirty="0"/>
          </a:p>
        </p:txBody>
      </p:sp>
    </p:spTree>
    <p:extLst>
      <p:ext uri="{BB962C8B-B14F-4D97-AF65-F5344CB8AC3E}">
        <p14:creationId xmlns:p14="http://schemas.microsoft.com/office/powerpoint/2010/main" val="29640708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59B5059-2B41-ABF8-C3F1-B9927D75E2AC}"/>
              </a:ext>
            </a:extLst>
          </p:cNvPr>
          <p:cNvSpPr>
            <a:spLocks noGrp="1"/>
          </p:cNvSpPr>
          <p:nvPr>
            <p:ph type="title"/>
          </p:nvPr>
        </p:nvSpPr>
        <p:spPr/>
        <p:txBody>
          <a:bodyPr/>
          <a:lstStyle/>
          <a:p>
            <a:r>
              <a:rPr lang="en-IN" dirty="0"/>
              <a:t>Cont..</a:t>
            </a:r>
            <a:endParaRPr lang="en-GB" dirty="0"/>
          </a:p>
        </p:txBody>
      </p:sp>
      <p:pic>
        <p:nvPicPr>
          <p:cNvPr id="5" name="Content Placeholder 4">
            <a:extLst>
              <a:ext uri="{FF2B5EF4-FFF2-40B4-BE49-F238E27FC236}">
                <a16:creationId xmlns:a16="http://schemas.microsoft.com/office/drawing/2014/main" xmlns="" id="{FE208A98-23A2-BECC-6195-B34FC3F28F70}"/>
              </a:ext>
            </a:extLst>
          </p:cNvPr>
          <p:cNvPicPr>
            <a:picLocks noGrp="1" noChangeAspect="1"/>
          </p:cNvPicPr>
          <p:nvPr>
            <p:ph idx="1"/>
          </p:nvPr>
        </p:nvPicPr>
        <p:blipFill>
          <a:blip r:embed="rId2"/>
          <a:stretch>
            <a:fillRect/>
          </a:stretch>
        </p:blipFill>
        <p:spPr>
          <a:xfrm>
            <a:off x="2208628" y="2096086"/>
            <a:ext cx="7765366" cy="3432517"/>
          </a:xfrm>
          <a:prstGeom prst="rect">
            <a:avLst/>
          </a:prstGeom>
        </p:spPr>
      </p:pic>
    </p:spTree>
    <p:extLst>
      <p:ext uri="{BB962C8B-B14F-4D97-AF65-F5344CB8AC3E}">
        <p14:creationId xmlns:p14="http://schemas.microsoft.com/office/powerpoint/2010/main" val="20926413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EE6299-7367-0CE7-78AF-7F732B85C752}"/>
              </a:ext>
            </a:extLst>
          </p:cNvPr>
          <p:cNvSpPr>
            <a:spLocks noGrp="1"/>
          </p:cNvSpPr>
          <p:nvPr>
            <p:ph type="title"/>
          </p:nvPr>
        </p:nvSpPr>
        <p:spPr>
          <a:xfrm>
            <a:off x="1451579" y="804520"/>
            <a:ext cx="9603275" cy="587136"/>
          </a:xfrm>
        </p:spPr>
        <p:txBody>
          <a:bodyPr>
            <a:normAutofit fontScale="90000"/>
          </a:bodyPr>
          <a:lstStyle/>
          <a:p>
            <a:r>
              <a:rPr lang="en-IN" dirty="0"/>
              <a:t>User defined functions in python</a:t>
            </a:r>
            <a:br>
              <a:rPr lang="en-IN" dirty="0"/>
            </a:br>
            <a:endParaRPr lang="en-GB" dirty="0"/>
          </a:p>
        </p:txBody>
      </p:sp>
      <p:sp>
        <p:nvSpPr>
          <p:cNvPr id="4" name="Content Placeholder 3">
            <a:extLst>
              <a:ext uri="{FF2B5EF4-FFF2-40B4-BE49-F238E27FC236}">
                <a16:creationId xmlns:a16="http://schemas.microsoft.com/office/drawing/2014/main" xmlns="" id="{04AE46B2-034C-1FF4-1345-D7B2F163A008}"/>
              </a:ext>
            </a:extLst>
          </p:cNvPr>
          <p:cNvSpPr>
            <a:spLocks noGrp="1"/>
          </p:cNvSpPr>
          <p:nvPr>
            <p:ph idx="1"/>
          </p:nvPr>
        </p:nvSpPr>
        <p:spPr>
          <a:xfrm>
            <a:off x="1294362" y="1903191"/>
            <a:ext cx="9603275" cy="3836427"/>
          </a:xfrm>
        </p:spPr>
        <p:txBody>
          <a:bodyPr>
            <a:normAutofit fontScale="92500" lnSpcReduction="20000"/>
          </a:bodyPr>
          <a:lstStyle/>
          <a:p>
            <a:r>
              <a:rPr lang="en-GB" b="0" i="0" dirty="0">
                <a:effectLst/>
                <a:latin typeface="Arial" panose="020B0604020202020204" pitchFamily="34" charset="0"/>
              </a:rPr>
              <a:t>A user-defined function is </a:t>
            </a:r>
            <a:r>
              <a:rPr lang="en-GB" i="0" dirty="0">
                <a:effectLst/>
                <a:latin typeface="Arial" panose="020B0604020202020204" pitchFamily="34" charset="0"/>
              </a:rPr>
              <a:t>a function that is written and defined by the programmer to perform specific tasks or calculations</a:t>
            </a:r>
            <a:r>
              <a:rPr lang="en-GB" b="0" i="0" dirty="0">
                <a:effectLst/>
                <a:latin typeface="Arial" panose="020B0604020202020204" pitchFamily="34" charset="0"/>
              </a:rPr>
              <a:t>. </a:t>
            </a:r>
          </a:p>
          <a:p>
            <a:pPr algn="l" rtl="0" fontAlgn="base"/>
            <a:r>
              <a:rPr lang="en-GB" b="0" i="0" dirty="0">
                <a:effectLst/>
                <a:latin typeface="Nunito" pitchFamily="2" charset="0"/>
              </a:rPr>
              <a:t>Below are the steps for writing user-defined functions in </a:t>
            </a:r>
            <a:r>
              <a:rPr lang="en-GB" dirty="0">
                <a:latin typeface="Nunito" pitchFamily="2" charset="0"/>
              </a:rPr>
              <a:t>Python</a:t>
            </a:r>
            <a:r>
              <a:rPr lang="en-GB" b="0" i="0" dirty="0">
                <a:effectLst/>
                <a:latin typeface="Nunito" pitchFamily="2" charset="0"/>
              </a:rPr>
              <a:t>.</a:t>
            </a:r>
          </a:p>
          <a:p>
            <a:pPr algn="l" fontAlgn="base">
              <a:buFont typeface="Arial" panose="020B0604020202020204" pitchFamily="34" charset="0"/>
              <a:buChar char="•"/>
            </a:pPr>
            <a:r>
              <a:rPr lang="en-GB" b="0" i="0" dirty="0">
                <a:effectLst/>
                <a:latin typeface="Nunito" pitchFamily="2" charset="0"/>
              </a:rPr>
              <a:t>In Python, a </a:t>
            </a:r>
            <a:r>
              <a:rPr lang="en-GB" dirty="0">
                <a:latin typeface="Nunito" pitchFamily="2" charset="0"/>
              </a:rPr>
              <a:t>def keyword</a:t>
            </a:r>
            <a:r>
              <a:rPr lang="en-GB" b="0" i="0" dirty="0">
                <a:effectLst/>
                <a:latin typeface="Nunito" pitchFamily="2" charset="0"/>
              </a:rPr>
              <a:t> is used to declare user-defined functions. </a:t>
            </a:r>
          </a:p>
          <a:p>
            <a:pPr algn="l" fontAlgn="base">
              <a:buFont typeface="Arial" panose="020B0604020202020204" pitchFamily="34" charset="0"/>
              <a:buChar char="•"/>
            </a:pPr>
            <a:r>
              <a:rPr lang="en-GB" b="0" i="0" dirty="0">
                <a:effectLst/>
                <a:latin typeface="Nunito" pitchFamily="2" charset="0"/>
              </a:rPr>
              <a:t>An indented block of statements follows the function name and arguments which contains the body of the function. </a:t>
            </a:r>
          </a:p>
          <a:p>
            <a:pPr marL="0" indent="0">
              <a:buNone/>
            </a:pPr>
            <a:r>
              <a:rPr lang="en-GB" dirty="0"/>
              <a:t>Syntax:</a:t>
            </a:r>
          </a:p>
          <a:p>
            <a:pPr marL="0" indent="0">
              <a:buNone/>
            </a:pPr>
            <a:r>
              <a:rPr lang="en-GB" dirty="0"/>
              <a:t>def </a:t>
            </a:r>
            <a:r>
              <a:rPr lang="en-GB" dirty="0" err="1"/>
              <a:t>function_name</a:t>
            </a:r>
            <a:r>
              <a:rPr lang="en-GB" dirty="0"/>
              <a:t>():</a:t>
            </a:r>
          </a:p>
          <a:p>
            <a:pPr marL="0" indent="0">
              <a:buNone/>
            </a:pPr>
            <a:r>
              <a:rPr lang="en-GB" dirty="0"/>
              <a:t>    statements</a:t>
            </a:r>
          </a:p>
          <a:p>
            <a:pPr marL="0" indent="0">
              <a:buNone/>
            </a:pPr>
            <a:r>
              <a:rPr lang="en-GB" dirty="0"/>
              <a:t>    </a:t>
            </a:r>
          </a:p>
          <a:p>
            <a:pPr marL="0" indent="0">
              <a:buNone/>
            </a:pPr>
            <a:r>
              <a:rPr lang="en-GB" dirty="0"/>
              <a:t>    </a:t>
            </a:r>
          </a:p>
        </p:txBody>
      </p:sp>
    </p:spTree>
    <p:extLst>
      <p:ext uri="{BB962C8B-B14F-4D97-AF65-F5344CB8AC3E}">
        <p14:creationId xmlns:p14="http://schemas.microsoft.com/office/powerpoint/2010/main" val="33427780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F23090-64D7-D73E-41DC-9998B0EAEE17}"/>
              </a:ext>
            </a:extLst>
          </p:cNvPr>
          <p:cNvSpPr>
            <a:spLocks noGrp="1"/>
          </p:cNvSpPr>
          <p:nvPr>
            <p:ph type="title"/>
          </p:nvPr>
        </p:nvSpPr>
        <p:spPr/>
        <p:txBody>
          <a:bodyPr/>
          <a:lstStyle/>
          <a:p>
            <a:r>
              <a:rPr lang="en-IN" dirty="0"/>
              <a:t>Cont..</a:t>
            </a:r>
            <a:endParaRPr lang="en-GB" dirty="0"/>
          </a:p>
        </p:txBody>
      </p:sp>
      <p:pic>
        <p:nvPicPr>
          <p:cNvPr id="4" name="Content Placeholder 4">
            <a:extLst>
              <a:ext uri="{FF2B5EF4-FFF2-40B4-BE49-F238E27FC236}">
                <a16:creationId xmlns:a16="http://schemas.microsoft.com/office/drawing/2014/main" xmlns="" id="{AA04D115-326B-6AFF-5384-62C1F486F4F4}"/>
              </a:ext>
            </a:extLst>
          </p:cNvPr>
          <p:cNvPicPr>
            <a:picLocks noGrp="1" noChangeAspect="1"/>
          </p:cNvPicPr>
          <p:nvPr>
            <p:ph idx="1"/>
          </p:nvPr>
        </p:nvPicPr>
        <p:blipFill>
          <a:blip r:embed="rId2"/>
          <a:stretch>
            <a:fillRect/>
          </a:stretch>
        </p:blipFill>
        <p:spPr>
          <a:xfrm>
            <a:off x="3976687" y="2196306"/>
            <a:ext cx="4238625" cy="3609975"/>
          </a:xfrm>
        </p:spPr>
      </p:pic>
    </p:spTree>
    <p:extLst>
      <p:ext uri="{BB962C8B-B14F-4D97-AF65-F5344CB8AC3E}">
        <p14:creationId xmlns:p14="http://schemas.microsoft.com/office/powerpoint/2010/main" val="32828981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88101F-B785-DF9F-BBEB-8C1C8BB45895}"/>
              </a:ext>
            </a:extLst>
          </p:cNvPr>
          <p:cNvSpPr>
            <a:spLocks noGrp="1"/>
          </p:cNvSpPr>
          <p:nvPr>
            <p:ph type="title"/>
          </p:nvPr>
        </p:nvSpPr>
        <p:spPr/>
        <p:txBody>
          <a:bodyPr/>
          <a:lstStyle/>
          <a:p>
            <a:r>
              <a:rPr lang="en-IN" dirty="0"/>
              <a:t>Recursion functions</a:t>
            </a:r>
            <a:endParaRPr lang="en-GB" dirty="0"/>
          </a:p>
        </p:txBody>
      </p:sp>
      <p:sp>
        <p:nvSpPr>
          <p:cNvPr id="3" name="Content Placeholder 2">
            <a:extLst>
              <a:ext uri="{FF2B5EF4-FFF2-40B4-BE49-F238E27FC236}">
                <a16:creationId xmlns:a16="http://schemas.microsoft.com/office/drawing/2014/main" xmlns="" id="{1DC18906-7928-0ACC-038B-9E094485896C}"/>
              </a:ext>
            </a:extLst>
          </p:cNvPr>
          <p:cNvSpPr>
            <a:spLocks noGrp="1"/>
          </p:cNvSpPr>
          <p:nvPr>
            <p:ph sz="half" idx="1"/>
          </p:nvPr>
        </p:nvSpPr>
        <p:spPr/>
        <p:txBody>
          <a:bodyPr/>
          <a:lstStyle/>
          <a:p>
            <a:r>
              <a:rPr lang="en-GB" b="0" i="0" dirty="0">
                <a:effectLst/>
                <a:latin typeface="Google Sans"/>
              </a:rPr>
              <a:t>Recursive functions are functions that calls itself. It is always made up of 2 portions, the base case and the recursive case. The base case is the condition to stop the recursion. The recursive case is the part where the function calls on itself.</a:t>
            </a:r>
            <a:endParaRPr lang="en-GB" dirty="0"/>
          </a:p>
        </p:txBody>
      </p:sp>
      <p:pic>
        <p:nvPicPr>
          <p:cNvPr id="14" name="Content Placeholder 13">
            <a:extLst>
              <a:ext uri="{FF2B5EF4-FFF2-40B4-BE49-F238E27FC236}">
                <a16:creationId xmlns:a16="http://schemas.microsoft.com/office/drawing/2014/main" xmlns="" id="{D3961FA9-E9FF-2B15-F8CE-EBD10037519C}"/>
              </a:ext>
            </a:extLst>
          </p:cNvPr>
          <p:cNvPicPr>
            <a:picLocks noGrp="1" noChangeAspect="1"/>
          </p:cNvPicPr>
          <p:nvPr>
            <p:ph sz="half" idx="2"/>
          </p:nvPr>
        </p:nvPicPr>
        <p:blipFill>
          <a:blip r:embed="rId2"/>
          <a:stretch>
            <a:fillRect/>
          </a:stretch>
        </p:blipFill>
        <p:spPr>
          <a:xfrm>
            <a:off x="6413500" y="2010878"/>
            <a:ext cx="4645025" cy="3448595"/>
          </a:xfrm>
        </p:spPr>
      </p:pic>
    </p:spTree>
    <p:extLst>
      <p:ext uri="{BB962C8B-B14F-4D97-AF65-F5344CB8AC3E}">
        <p14:creationId xmlns:p14="http://schemas.microsoft.com/office/powerpoint/2010/main" val="19182755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of a Recursive Function: Factorial</a:t>
            </a:r>
          </a:p>
        </p:txBody>
      </p:sp>
      <p:sp>
        <p:nvSpPr>
          <p:cNvPr id="3" name="Content Placeholder 2"/>
          <p:cNvSpPr>
            <a:spLocks noGrp="1"/>
          </p:cNvSpPr>
          <p:nvPr>
            <p:ph sz="half" idx="1"/>
          </p:nvPr>
        </p:nvSpPr>
        <p:spPr/>
        <p:txBody>
          <a:bodyPr>
            <a:normAutofit/>
          </a:bodyPr>
          <a:lstStyle/>
          <a:p>
            <a:r>
              <a:rPr lang="en-IN" dirty="0" err="1"/>
              <a:t>def</a:t>
            </a:r>
            <a:r>
              <a:rPr lang="en-IN" dirty="0"/>
              <a:t> factorial(n):</a:t>
            </a:r>
          </a:p>
          <a:p>
            <a:r>
              <a:rPr lang="en-IN" dirty="0"/>
              <a:t>    # Base case</a:t>
            </a:r>
          </a:p>
          <a:p>
            <a:r>
              <a:rPr lang="en-IN" dirty="0"/>
              <a:t>    if n == 0:</a:t>
            </a:r>
          </a:p>
          <a:p>
            <a:r>
              <a:rPr lang="en-IN" dirty="0"/>
              <a:t>        return 1</a:t>
            </a:r>
          </a:p>
          <a:p>
            <a:r>
              <a:rPr lang="en-IN" dirty="0"/>
              <a:t>    # Recursive case</a:t>
            </a:r>
          </a:p>
          <a:p>
            <a:r>
              <a:rPr lang="en-IN" dirty="0"/>
              <a:t>    else:</a:t>
            </a:r>
          </a:p>
          <a:p>
            <a:r>
              <a:rPr lang="en-IN" dirty="0" smtClean="0"/>
              <a:t>return </a:t>
            </a:r>
            <a:r>
              <a:rPr lang="en-IN" dirty="0"/>
              <a:t>n * factorial(n - 1</a:t>
            </a:r>
            <a:r>
              <a:rPr lang="en-IN" dirty="0" smtClean="0"/>
              <a:t>)</a:t>
            </a:r>
            <a:endParaRPr lang="en-IN" dirty="0"/>
          </a:p>
          <a:p>
            <a:pPr marL="0" indent="0">
              <a:buNone/>
            </a:pPr>
            <a:r>
              <a:rPr lang="en-IN" dirty="0"/>
              <a:t># Testing the function</a:t>
            </a:r>
          </a:p>
          <a:p>
            <a:r>
              <a:rPr lang="en-IN" dirty="0"/>
              <a:t>print(factorial(5))  # Output: 120</a:t>
            </a:r>
          </a:p>
          <a:p>
            <a:endParaRPr lang="en-IN" dirty="0"/>
          </a:p>
        </p:txBody>
      </p:sp>
      <p:sp>
        <p:nvSpPr>
          <p:cNvPr id="4" name="Content Placeholder 3"/>
          <p:cNvSpPr>
            <a:spLocks noGrp="1"/>
          </p:cNvSpPr>
          <p:nvPr>
            <p:ph sz="half" idx="2"/>
          </p:nvPr>
        </p:nvSpPr>
        <p:spPr/>
        <p:txBody>
          <a:bodyPr>
            <a:normAutofit/>
          </a:bodyPr>
          <a:lstStyle/>
          <a:p>
            <a:r>
              <a:rPr lang="en-IN" dirty="0"/>
              <a:t>The base case is when n == 0, at which point the function returns 1 because 0</a:t>
            </a:r>
            <a:r>
              <a:rPr lang="en-IN" dirty="0" smtClean="0"/>
              <a:t>! = 1.</a:t>
            </a:r>
          </a:p>
          <a:p>
            <a:r>
              <a:rPr lang="en-IN" dirty="0" smtClean="0"/>
              <a:t>The </a:t>
            </a:r>
            <a:r>
              <a:rPr lang="en-IN" dirty="0"/>
              <a:t>recursive case is where the function calls itself with n-1, multiplying the result of the recursive call by n.</a:t>
            </a:r>
          </a:p>
        </p:txBody>
      </p:sp>
    </p:spTree>
    <p:extLst>
      <p:ext uri="{BB962C8B-B14F-4D97-AF65-F5344CB8AC3E}">
        <p14:creationId xmlns:p14="http://schemas.microsoft.com/office/powerpoint/2010/main" val="30870409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recursion works step by step</a:t>
            </a:r>
          </a:p>
        </p:txBody>
      </p:sp>
      <p:sp>
        <p:nvSpPr>
          <p:cNvPr id="3" name="Content Placeholder 2"/>
          <p:cNvSpPr>
            <a:spLocks noGrp="1"/>
          </p:cNvSpPr>
          <p:nvPr>
            <p:ph sz="half" idx="1"/>
          </p:nvPr>
        </p:nvSpPr>
        <p:spPr/>
        <p:txBody>
          <a:bodyPr/>
          <a:lstStyle/>
          <a:p>
            <a:r>
              <a:rPr lang="en-IN" dirty="0"/>
              <a:t>For factorial(5</a:t>
            </a:r>
            <a:r>
              <a:rPr lang="en-IN" dirty="0" smtClean="0"/>
              <a:t>):</a:t>
            </a:r>
          </a:p>
          <a:p>
            <a:pPr marL="0" indent="0">
              <a:buNone/>
            </a:pPr>
            <a:r>
              <a:rPr lang="en-IN" dirty="0"/>
              <a:t>factorial(5) </a:t>
            </a:r>
            <a:r>
              <a:rPr lang="en-IN" dirty="0" smtClean="0"/>
              <a:t>calls factorial(4)</a:t>
            </a:r>
          </a:p>
          <a:p>
            <a:pPr marL="0" indent="0">
              <a:buNone/>
            </a:pPr>
            <a:r>
              <a:rPr lang="en-IN" dirty="0" smtClean="0"/>
              <a:t>factorial(4</a:t>
            </a:r>
            <a:r>
              <a:rPr lang="en-IN" dirty="0"/>
              <a:t>) calls factorial(3</a:t>
            </a:r>
            <a:r>
              <a:rPr lang="en-IN" dirty="0" smtClean="0"/>
              <a:t>)</a:t>
            </a:r>
          </a:p>
          <a:p>
            <a:pPr marL="0" indent="0">
              <a:buNone/>
            </a:pPr>
            <a:r>
              <a:rPr lang="en-IN" dirty="0" smtClean="0"/>
              <a:t>factorial(3</a:t>
            </a:r>
            <a:r>
              <a:rPr lang="en-IN" dirty="0"/>
              <a:t>) calls factorial(2</a:t>
            </a:r>
            <a:r>
              <a:rPr lang="en-IN" dirty="0" smtClean="0"/>
              <a:t>)</a:t>
            </a:r>
          </a:p>
          <a:p>
            <a:pPr marL="0" indent="0">
              <a:buNone/>
            </a:pPr>
            <a:r>
              <a:rPr lang="en-IN" dirty="0" smtClean="0"/>
              <a:t>factorial(2</a:t>
            </a:r>
            <a:r>
              <a:rPr lang="en-IN" dirty="0"/>
              <a:t>) calls factorial(1</a:t>
            </a:r>
            <a:r>
              <a:rPr lang="en-IN" dirty="0" smtClean="0"/>
              <a:t>)</a:t>
            </a:r>
          </a:p>
          <a:p>
            <a:pPr marL="0" indent="0">
              <a:buNone/>
            </a:pPr>
            <a:r>
              <a:rPr lang="en-IN" dirty="0" smtClean="0"/>
              <a:t>factorial(1</a:t>
            </a:r>
            <a:r>
              <a:rPr lang="en-IN" dirty="0"/>
              <a:t>) calls factorial(0</a:t>
            </a:r>
            <a:r>
              <a:rPr lang="en-IN" dirty="0" smtClean="0"/>
              <a:t>)</a:t>
            </a:r>
          </a:p>
          <a:p>
            <a:pPr marL="0" indent="0">
              <a:buNone/>
            </a:pPr>
            <a:r>
              <a:rPr lang="en-IN" dirty="0" smtClean="0"/>
              <a:t>factorial(0</a:t>
            </a:r>
            <a:r>
              <a:rPr lang="en-IN" dirty="0"/>
              <a:t>) returns 1</a:t>
            </a:r>
          </a:p>
        </p:txBody>
      </p:sp>
      <p:sp>
        <p:nvSpPr>
          <p:cNvPr id="4" name="Content Placeholder 3"/>
          <p:cNvSpPr>
            <a:spLocks noGrp="1"/>
          </p:cNvSpPr>
          <p:nvPr>
            <p:ph sz="half" idx="2"/>
          </p:nvPr>
        </p:nvSpPr>
        <p:spPr/>
        <p:txBody>
          <a:bodyPr/>
          <a:lstStyle/>
          <a:p>
            <a:pPr marL="0" indent="0">
              <a:buNone/>
            </a:pPr>
            <a:r>
              <a:rPr lang="en-IN" dirty="0"/>
              <a:t>factorial(1) returns 1 * 1 = </a:t>
            </a:r>
            <a:r>
              <a:rPr lang="en-IN" dirty="0" smtClean="0"/>
              <a:t>1</a:t>
            </a:r>
          </a:p>
          <a:p>
            <a:pPr marL="0" indent="0">
              <a:buNone/>
            </a:pPr>
            <a:r>
              <a:rPr lang="en-IN" dirty="0" smtClean="0"/>
              <a:t>factorial(2</a:t>
            </a:r>
            <a:r>
              <a:rPr lang="en-IN" dirty="0"/>
              <a:t>) returns 2 * 1 = </a:t>
            </a:r>
            <a:r>
              <a:rPr lang="en-IN" dirty="0" smtClean="0"/>
              <a:t>2</a:t>
            </a:r>
          </a:p>
          <a:p>
            <a:pPr marL="0" indent="0">
              <a:buNone/>
            </a:pPr>
            <a:r>
              <a:rPr lang="en-IN" dirty="0" smtClean="0"/>
              <a:t>factorial(3</a:t>
            </a:r>
            <a:r>
              <a:rPr lang="en-IN" dirty="0"/>
              <a:t>) returns 3 * 2 = </a:t>
            </a:r>
            <a:r>
              <a:rPr lang="en-IN" dirty="0" smtClean="0"/>
              <a:t>6</a:t>
            </a:r>
          </a:p>
          <a:p>
            <a:pPr marL="0" indent="0">
              <a:buNone/>
            </a:pPr>
            <a:r>
              <a:rPr lang="en-IN" dirty="0" smtClean="0"/>
              <a:t>factorial(4</a:t>
            </a:r>
            <a:r>
              <a:rPr lang="en-IN" dirty="0"/>
              <a:t>) returns 4 * 6 = </a:t>
            </a:r>
            <a:r>
              <a:rPr lang="en-IN" dirty="0" smtClean="0"/>
              <a:t>24</a:t>
            </a:r>
          </a:p>
          <a:p>
            <a:pPr marL="0" indent="0">
              <a:buNone/>
            </a:pPr>
            <a:r>
              <a:rPr lang="en-IN" dirty="0" smtClean="0"/>
              <a:t>factorial(5</a:t>
            </a:r>
            <a:r>
              <a:rPr lang="en-IN" dirty="0"/>
              <a:t>) returns 5 * 24 = </a:t>
            </a:r>
            <a:r>
              <a:rPr lang="en-IN" dirty="0" smtClean="0"/>
              <a:t>120</a:t>
            </a:r>
          </a:p>
          <a:p>
            <a:pPr marL="0" indent="0">
              <a:buNone/>
            </a:pPr>
            <a:r>
              <a:rPr lang="en-IN" dirty="0" smtClean="0"/>
              <a:t>Thus</a:t>
            </a:r>
            <a:r>
              <a:rPr lang="en-IN" dirty="0"/>
              <a:t>, factorial(5) returns 120.</a:t>
            </a:r>
          </a:p>
        </p:txBody>
      </p:sp>
    </p:spTree>
    <p:extLst>
      <p:ext uri="{BB962C8B-B14F-4D97-AF65-F5344CB8AC3E}">
        <p14:creationId xmlns:p14="http://schemas.microsoft.com/office/powerpoint/2010/main" val="34116634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Functional Programming in Python</a:t>
            </a:r>
            <a:br>
              <a:rPr lang="en-IN" b="1" dirty="0"/>
            </a:br>
            <a:endParaRPr lang="en-IN" dirty="0"/>
          </a:p>
        </p:txBody>
      </p:sp>
      <p:sp>
        <p:nvSpPr>
          <p:cNvPr id="3" name="Rectangle 2"/>
          <p:cNvSpPr/>
          <p:nvPr/>
        </p:nvSpPr>
        <p:spPr>
          <a:xfrm>
            <a:off x="609599" y="1378039"/>
            <a:ext cx="11084417" cy="390183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IN" sz="2400" dirty="0" smtClean="0"/>
              <a:t>Functional </a:t>
            </a:r>
            <a:r>
              <a:rPr lang="en-IN" sz="2400" dirty="0"/>
              <a:t>programming is a programming paradigm in which we try to bind everything in a pure mathematical functions style. </a:t>
            </a:r>
            <a:endParaRPr lang="en-IN" sz="2400" dirty="0" smtClean="0"/>
          </a:p>
          <a:p>
            <a:pPr marL="285750" indent="-285750" algn="just">
              <a:lnSpc>
                <a:spcPct val="150000"/>
              </a:lnSpc>
              <a:buFont typeface="Arial" panose="020B0604020202020204" pitchFamily="34" charset="0"/>
              <a:buChar char="•"/>
            </a:pPr>
            <a:r>
              <a:rPr lang="en-IN" sz="2400" dirty="0" smtClean="0"/>
              <a:t>It </a:t>
            </a:r>
            <a:r>
              <a:rPr lang="en-IN" sz="2400" dirty="0"/>
              <a:t>is a declarative type of programming style. Its main focus is on ” what to solve” in contrast to an imperative style where the main focus is “how to solve“. </a:t>
            </a:r>
            <a:endParaRPr lang="en-IN" sz="2400" dirty="0" smtClean="0"/>
          </a:p>
          <a:p>
            <a:pPr marL="285750" indent="-285750" algn="just">
              <a:lnSpc>
                <a:spcPct val="150000"/>
              </a:lnSpc>
              <a:buFont typeface="Arial" panose="020B0604020202020204" pitchFamily="34" charset="0"/>
              <a:buChar char="•"/>
            </a:pPr>
            <a:r>
              <a:rPr lang="en-IN" sz="2400" dirty="0" smtClean="0"/>
              <a:t>It </a:t>
            </a:r>
            <a:r>
              <a:rPr lang="en-IN" sz="2400" dirty="0"/>
              <a:t>uses expressions instead of statements. An expression is evaluated to produce a value whereas a statement is executed to assign variables.</a:t>
            </a:r>
          </a:p>
        </p:txBody>
      </p:sp>
    </p:spTree>
    <p:extLst>
      <p:ext uri="{BB962C8B-B14F-4D97-AF65-F5344CB8AC3E}">
        <p14:creationId xmlns:p14="http://schemas.microsoft.com/office/powerpoint/2010/main" val="757143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D3BB8A-C58A-1298-C84E-E43230F706F9}"/>
              </a:ext>
            </a:extLst>
          </p:cNvPr>
          <p:cNvSpPr>
            <a:spLocks noGrp="1"/>
          </p:cNvSpPr>
          <p:nvPr>
            <p:ph type="title"/>
          </p:nvPr>
        </p:nvSpPr>
        <p:spPr/>
        <p:txBody>
          <a:bodyPr/>
          <a:lstStyle/>
          <a:p>
            <a:r>
              <a:rPr lang="en-IN" dirty="0"/>
              <a:t>Map –reduce-filter in python</a:t>
            </a:r>
            <a:endParaRPr lang="en-GB" dirty="0"/>
          </a:p>
        </p:txBody>
      </p:sp>
      <p:pic>
        <p:nvPicPr>
          <p:cNvPr id="3" name="Picture 2">
            <a:extLst>
              <a:ext uri="{FF2B5EF4-FFF2-40B4-BE49-F238E27FC236}">
                <a16:creationId xmlns:a16="http://schemas.microsoft.com/office/drawing/2014/main" xmlns="" id="{DE792AD1-1069-3DA6-9375-D3828AED5EA8}"/>
              </a:ext>
            </a:extLst>
          </p:cNvPr>
          <p:cNvPicPr>
            <a:picLocks noChangeAspect="1"/>
          </p:cNvPicPr>
          <p:nvPr/>
        </p:nvPicPr>
        <p:blipFill>
          <a:blip r:embed="rId2"/>
          <a:stretch>
            <a:fillRect/>
          </a:stretch>
        </p:blipFill>
        <p:spPr>
          <a:xfrm>
            <a:off x="865603" y="2271712"/>
            <a:ext cx="3692329" cy="3299094"/>
          </a:xfrm>
          <a:prstGeom prst="rect">
            <a:avLst/>
          </a:prstGeom>
        </p:spPr>
      </p:pic>
      <p:pic>
        <p:nvPicPr>
          <p:cNvPr id="4" name="Picture 3">
            <a:extLst>
              <a:ext uri="{FF2B5EF4-FFF2-40B4-BE49-F238E27FC236}">
                <a16:creationId xmlns:a16="http://schemas.microsoft.com/office/drawing/2014/main" xmlns="" id="{77D61E77-BEE8-A83A-5459-4B768383051A}"/>
              </a:ext>
            </a:extLst>
          </p:cNvPr>
          <p:cNvPicPr>
            <a:picLocks noChangeAspect="1"/>
          </p:cNvPicPr>
          <p:nvPr/>
        </p:nvPicPr>
        <p:blipFill>
          <a:blip r:embed="rId3"/>
          <a:stretch>
            <a:fillRect/>
          </a:stretch>
        </p:blipFill>
        <p:spPr>
          <a:xfrm>
            <a:off x="4681244" y="2271712"/>
            <a:ext cx="3551652" cy="3299094"/>
          </a:xfrm>
          <a:prstGeom prst="rect">
            <a:avLst/>
          </a:prstGeom>
        </p:spPr>
      </p:pic>
      <p:pic>
        <p:nvPicPr>
          <p:cNvPr id="5" name="Picture 4">
            <a:extLst>
              <a:ext uri="{FF2B5EF4-FFF2-40B4-BE49-F238E27FC236}">
                <a16:creationId xmlns:a16="http://schemas.microsoft.com/office/drawing/2014/main" xmlns="" id="{0DB75FDD-8F54-F17D-E52E-2A38B70B47B2}"/>
              </a:ext>
            </a:extLst>
          </p:cNvPr>
          <p:cNvPicPr>
            <a:picLocks noChangeAspect="1"/>
          </p:cNvPicPr>
          <p:nvPr/>
        </p:nvPicPr>
        <p:blipFill>
          <a:blip r:embed="rId4"/>
          <a:stretch>
            <a:fillRect/>
          </a:stretch>
        </p:blipFill>
        <p:spPr>
          <a:xfrm>
            <a:off x="8356208" y="2271712"/>
            <a:ext cx="3446586" cy="3299094"/>
          </a:xfrm>
          <a:prstGeom prst="rect">
            <a:avLst/>
          </a:prstGeom>
        </p:spPr>
      </p:pic>
    </p:spTree>
    <p:extLst>
      <p:ext uri="{BB962C8B-B14F-4D97-AF65-F5344CB8AC3E}">
        <p14:creationId xmlns:p14="http://schemas.microsoft.com/office/powerpoint/2010/main" val="11555271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B16FE7-389B-1F58-1932-801FBCCA1200}"/>
              </a:ext>
            </a:extLst>
          </p:cNvPr>
          <p:cNvSpPr>
            <a:spLocks noGrp="1"/>
          </p:cNvSpPr>
          <p:nvPr>
            <p:ph type="title"/>
          </p:nvPr>
        </p:nvSpPr>
        <p:spPr/>
        <p:txBody>
          <a:bodyPr/>
          <a:lstStyle/>
          <a:p>
            <a:r>
              <a:rPr lang="en-IN" dirty="0"/>
              <a:t>Map  - Filter  - Reduce</a:t>
            </a:r>
            <a:endParaRPr lang="en-GB" dirty="0"/>
          </a:p>
        </p:txBody>
      </p:sp>
      <p:sp>
        <p:nvSpPr>
          <p:cNvPr id="3" name="Content Placeholder 2">
            <a:extLst>
              <a:ext uri="{FF2B5EF4-FFF2-40B4-BE49-F238E27FC236}">
                <a16:creationId xmlns:a16="http://schemas.microsoft.com/office/drawing/2014/main" xmlns="" id="{5EDCEECC-9DB4-9F37-C1A5-BE556500E630}"/>
              </a:ext>
            </a:extLst>
          </p:cNvPr>
          <p:cNvSpPr>
            <a:spLocks noGrp="1"/>
          </p:cNvSpPr>
          <p:nvPr>
            <p:ph idx="1"/>
          </p:nvPr>
        </p:nvSpPr>
        <p:spPr/>
        <p:txBody>
          <a:bodyPr/>
          <a:lstStyle/>
          <a:p>
            <a:endParaRPr lang="en-GB" b="0" i="0" dirty="0">
              <a:solidFill>
                <a:srgbClr val="474747"/>
              </a:solidFill>
              <a:effectLst/>
              <a:latin typeface="Google Sans"/>
            </a:endParaRPr>
          </a:p>
          <a:p>
            <a:r>
              <a:rPr lang="en-GB" b="0" i="0" dirty="0">
                <a:effectLst/>
                <a:latin typeface="Google Sans"/>
              </a:rPr>
              <a:t>The 'Map' operation in programming transforms data from one form into another.</a:t>
            </a:r>
          </a:p>
          <a:p>
            <a:r>
              <a:rPr lang="en-GB" b="0" i="0" dirty="0">
                <a:effectLst/>
                <a:latin typeface="Google Sans"/>
              </a:rPr>
              <a:t> The 'Reduce' operation combines the elements of a list into a single result.</a:t>
            </a:r>
          </a:p>
          <a:p>
            <a:r>
              <a:rPr lang="en-GB" b="0" i="0" dirty="0">
                <a:effectLst/>
                <a:latin typeface="Google Sans"/>
              </a:rPr>
              <a:t>The 'Filter' operation selects a subset of items based on a given condition.</a:t>
            </a:r>
            <a:endParaRPr lang="en-GB" dirty="0">
              <a:latin typeface="Google Sans"/>
            </a:endParaRPr>
          </a:p>
        </p:txBody>
      </p:sp>
    </p:spTree>
    <p:extLst>
      <p:ext uri="{BB962C8B-B14F-4D97-AF65-F5344CB8AC3E}">
        <p14:creationId xmlns:p14="http://schemas.microsoft.com/office/powerpoint/2010/main" val="27827555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Mapping</a:t>
            </a:r>
            <a:endParaRPr lang="en-IN" dirty="0"/>
          </a:p>
        </p:txBody>
      </p:sp>
      <p:sp>
        <p:nvSpPr>
          <p:cNvPr id="4" name="Rectangle 3"/>
          <p:cNvSpPr/>
          <p:nvPr/>
        </p:nvSpPr>
        <p:spPr>
          <a:xfrm>
            <a:off x="759853" y="1635617"/>
            <a:ext cx="10934163" cy="3693319"/>
          </a:xfrm>
          <a:prstGeom prst="rect">
            <a:avLst/>
          </a:prstGeom>
        </p:spPr>
        <p:txBody>
          <a:bodyPr wrap="square">
            <a:spAutoFit/>
          </a:bodyPr>
          <a:lstStyle/>
          <a:p>
            <a:pPr marL="285750" indent="-285750">
              <a:buFont typeface="Arial" panose="020B0604020202020204" pitchFamily="34" charset="0"/>
              <a:buChar char="•"/>
            </a:pPr>
            <a:r>
              <a:rPr lang="en-IN" dirty="0" smtClean="0"/>
              <a:t>Mapping </a:t>
            </a:r>
            <a:r>
              <a:rPr lang="en-IN" dirty="0"/>
              <a:t>refers to applying a function to each item in an </a:t>
            </a:r>
            <a:r>
              <a:rPr lang="en-IN" dirty="0" err="1"/>
              <a:t>iterable</a:t>
            </a:r>
            <a:r>
              <a:rPr lang="en-IN" dirty="0"/>
              <a:t> (like a list, tuple, or other collections). </a:t>
            </a:r>
            <a:endParaRPr lang="en-IN" dirty="0" smtClean="0"/>
          </a:p>
          <a:p>
            <a:pPr marL="285750" indent="-285750">
              <a:buFont typeface="Arial" panose="020B0604020202020204" pitchFamily="34" charset="0"/>
              <a:buChar char="•"/>
            </a:pPr>
            <a:r>
              <a:rPr lang="en-IN" dirty="0" smtClean="0"/>
              <a:t>The </a:t>
            </a:r>
            <a:r>
              <a:rPr lang="en-IN" dirty="0"/>
              <a:t>most common way to achieve this in Python is using the map() function</a:t>
            </a:r>
            <a:r>
              <a:rPr lang="en-IN" dirty="0" smtClean="0"/>
              <a:t>.</a:t>
            </a:r>
          </a:p>
          <a:p>
            <a:pPr marL="285750" indent="-285750">
              <a:buFont typeface="Arial" panose="020B0604020202020204" pitchFamily="34" charset="0"/>
              <a:buChar char="•"/>
            </a:pPr>
            <a:r>
              <a:rPr lang="en-IN" dirty="0"/>
              <a:t>map() </a:t>
            </a:r>
            <a:r>
              <a:rPr lang="en-IN" dirty="0" smtClean="0"/>
              <a:t>Function - The </a:t>
            </a:r>
            <a:r>
              <a:rPr lang="en-IN" dirty="0"/>
              <a:t>map() function applies a given function to each item in an </a:t>
            </a:r>
            <a:r>
              <a:rPr lang="en-IN" dirty="0" err="1"/>
              <a:t>iterable</a:t>
            </a:r>
            <a:r>
              <a:rPr lang="en-IN" dirty="0"/>
              <a:t> (such as a list, tuple, etc.) and returns an iterator </a:t>
            </a:r>
            <a:r>
              <a:rPr lang="en-IN" dirty="0" smtClean="0"/>
              <a:t>of </a:t>
            </a:r>
            <a:r>
              <a:rPr lang="en-IN" dirty="0"/>
              <a:t>the results</a:t>
            </a:r>
            <a:r>
              <a:rPr lang="en-IN" dirty="0" smtClean="0"/>
              <a:t>.</a:t>
            </a:r>
          </a:p>
          <a:p>
            <a:pPr marL="285750" indent="-285750">
              <a:buFont typeface="Arial" panose="020B0604020202020204" pitchFamily="34" charset="0"/>
              <a:buChar char="•"/>
            </a:pPr>
            <a:endParaRPr lang="en-IN" dirty="0" smtClean="0"/>
          </a:p>
          <a:p>
            <a:pPr marL="285750" indent="-285750">
              <a:buFont typeface="Arial" panose="020B0604020202020204" pitchFamily="34" charset="0"/>
              <a:buChar char="•"/>
            </a:pPr>
            <a:r>
              <a:rPr lang="en-IN" dirty="0" smtClean="0"/>
              <a:t>Syntax</a:t>
            </a:r>
          </a:p>
          <a:p>
            <a:pPr marL="285750" indent="-285750">
              <a:buFont typeface="Arial" panose="020B0604020202020204" pitchFamily="34" charset="0"/>
              <a:buChar char="•"/>
            </a:pPr>
            <a:endParaRPr lang="en-IN" i="1" dirty="0"/>
          </a:p>
          <a:p>
            <a:r>
              <a:rPr lang="en-IN" i="1" dirty="0"/>
              <a:t>map(function, </a:t>
            </a:r>
            <a:r>
              <a:rPr lang="en-IN" i="1" dirty="0" err="1"/>
              <a:t>iterable</a:t>
            </a:r>
            <a:r>
              <a:rPr lang="en-IN" i="1" dirty="0"/>
              <a:t>, </a:t>
            </a:r>
            <a:r>
              <a:rPr lang="en-IN" i="1" dirty="0" smtClean="0"/>
              <a:t>...)</a:t>
            </a:r>
          </a:p>
          <a:p>
            <a:endParaRPr lang="en-IN" i="1" dirty="0"/>
          </a:p>
          <a:p>
            <a:pPr marL="285750" indent="-285750">
              <a:buFont typeface="Arial" panose="020B0604020202020204" pitchFamily="34" charset="0"/>
              <a:buChar char="•"/>
            </a:pPr>
            <a:r>
              <a:rPr lang="en-IN" i="1" dirty="0"/>
              <a:t>function: A function that will be applied to each item of the </a:t>
            </a:r>
            <a:r>
              <a:rPr lang="en-IN" i="1" dirty="0" err="1"/>
              <a:t>iterable</a:t>
            </a:r>
            <a:r>
              <a:rPr lang="en-IN" i="1" dirty="0"/>
              <a:t>(s</a:t>
            </a:r>
            <a:r>
              <a:rPr lang="en-IN" i="1" dirty="0" smtClean="0"/>
              <a:t>).</a:t>
            </a:r>
          </a:p>
          <a:p>
            <a:endParaRPr lang="en-IN" i="1" dirty="0" smtClean="0"/>
          </a:p>
          <a:p>
            <a:pPr marL="285750" indent="-285750">
              <a:buFont typeface="Arial" panose="020B0604020202020204" pitchFamily="34" charset="0"/>
              <a:buChar char="•"/>
            </a:pPr>
            <a:r>
              <a:rPr lang="en-IN" i="1" dirty="0" err="1" smtClean="0"/>
              <a:t>iterable</a:t>
            </a:r>
            <a:r>
              <a:rPr lang="en-IN" i="1" dirty="0"/>
              <a:t>: One or more </a:t>
            </a:r>
            <a:r>
              <a:rPr lang="en-IN" i="1" dirty="0" err="1"/>
              <a:t>iterables</a:t>
            </a:r>
            <a:r>
              <a:rPr lang="en-IN" i="1" dirty="0"/>
              <a:t> (e.g., list, tuple, etc.) whose elements will be passed to the function.</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9238930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sz="half" idx="1"/>
          </p:nvPr>
        </p:nvSpPr>
        <p:spPr/>
        <p:txBody>
          <a:bodyPr>
            <a:normAutofit fontScale="70000" lnSpcReduction="20000"/>
          </a:bodyPr>
          <a:lstStyle/>
          <a:p>
            <a:r>
              <a:rPr lang="en-IN" dirty="0"/>
              <a:t># Function to square a number</a:t>
            </a:r>
          </a:p>
          <a:p>
            <a:r>
              <a:rPr lang="en-IN" dirty="0" err="1"/>
              <a:t>def</a:t>
            </a:r>
            <a:r>
              <a:rPr lang="en-IN" dirty="0"/>
              <a:t> square(x):</a:t>
            </a:r>
          </a:p>
          <a:p>
            <a:r>
              <a:rPr lang="en-IN" dirty="0"/>
              <a:t>    return x * </a:t>
            </a:r>
            <a:r>
              <a:rPr lang="en-IN" dirty="0" smtClean="0"/>
              <a:t>x</a:t>
            </a:r>
          </a:p>
          <a:p>
            <a:pPr marL="0" indent="0">
              <a:buNone/>
            </a:pPr>
            <a:endParaRPr lang="en-IN" dirty="0" smtClean="0"/>
          </a:p>
          <a:p>
            <a:r>
              <a:rPr lang="en-IN" dirty="0" smtClean="0"/>
              <a:t># </a:t>
            </a:r>
            <a:r>
              <a:rPr lang="en-IN" dirty="0"/>
              <a:t>List of numbers</a:t>
            </a:r>
          </a:p>
          <a:p>
            <a:r>
              <a:rPr lang="en-IN" dirty="0"/>
              <a:t>numbers = [1, 2, 3, 4, 5</a:t>
            </a:r>
            <a:r>
              <a:rPr lang="en-IN" dirty="0" smtClean="0"/>
              <a:t>]</a:t>
            </a:r>
          </a:p>
          <a:p>
            <a:endParaRPr lang="en-IN" dirty="0"/>
          </a:p>
          <a:p>
            <a:r>
              <a:rPr lang="en-IN" dirty="0" smtClean="0"/>
              <a:t># </a:t>
            </a:r>
            <a:r>
              <a:rPr lang="en-IN" dirty="0"/>
              <a:t>Applying the function to each element in the list using map</a:t>
            </a:r>
          </a:p>
          <a:p>
            <a:r>
              <a:rPr lang="en-IN" dirty="0" err="1"/>
              <a:t>squared_numbers</a:t>
            </a:r>
            <a:r>
              <a:rPr lang="en-IN" dirty="0"/>
              <a:t> = map(square, numbers</a:t>
            </a:r>
            <a:r>
              <a:rPr lang="en-IN" dirty="0" smtClean="0"/>
              <a:t>)</a:t>
            </a:r>
          </a:p>
          <a:p>
            <a:endParaRPr lang="en-IN" dirty="0"/>
          </a:p>
          <a:p>
            <a:r>
              <a:rPr lang="en-IN" dirty="0" smtClean="0"/>
              <a:t># </a:t>
            </a:r>
            <a:r>
              <a:rPr lang="en-IN" dirty="0"/>
              <a:t>Converting the map object to a list and printing it</a:t>
            </a:r>
          </a:p>
          <a:p>
            <a:r>
              <a:rPr lang="en-IN" dirty="0"/>
              <a:t>print(list(</a:t>
            </a:r>
            <a:r>
              <a:rPr lang="en-IN" dirty="0" err="1"/>
              <a:t>squared_numbers</a:t>
            </a:r>
            <a:r>
              <a:rPr lang="en-IN" dirty="0"/>
              <a:t>))</a:t>
            </a:r>
          </a:p>
          <a:p>
            <a:endParaRPr lang="en-IN" dirty="0"/>
          </a:p>
        </p:txBody>
      </p:sp>
      <p:sp>
        <p:nvSpPr>
          <p:cNvPr id="4" name="Content Placeholder 3"/>
          <p:cNvSpPr>
            <a:spLocks noGrp="1"/>
          </p:cNvSpPr>
          <p:nvPr>
            <p:ph sz="half" idx="2"/>
          </p:nvPr>
        </p:nvSpPr>
        <p:spPr/>
        <p:txBody>
          <a:bodyPr>
            <a:normAutofit fontScale="70000" lnSpcReduction="20000"/>
          </a:bodyPr>
          <a:lstStyle/>
          <a:p>
            <a:r>
              <a:rPr lang="en-IN" dirty="0" smtClean="0"/>
              <a:t>Output</a:t>
            </a:r>
          </a:p>
          <a:p>
            <a:pPr marL="0" indent="0">
              <a:buNone/>
            </a:pPr>
            <a:endParaRPr lang="en-IN" dirty="0" smtClean="0"/>
          </a:p>
          <a:p>
            <a:pPr marL="0" indent="0">
              <a:buNone/>
            </a:pPr>
            <a:r>
              <a:rPr lang="en-IN" dirty="0" smtClean="0"/>
              <a:t>[</a:t>
            </a:r>
            <a:r>
              <a:rPr lang="en-IN" dirty="0"/>
              <a:t>1, 4, 9, 16, 25</a:t>
            </a:r>
            <a:r>
              <a:rPr lang="en-IN" dirty="0" smtClean="0"/>
              <a:t>]</a:t>
            </a:r>
          </a:p>
          <a:p>
            <a:pPr marL="0" indent="0">
              <a:buNone/>
            </a:pPr>
            <a:endParaRPr lang="en-IN" dirty="0"/>
          </a:p>
          <a:p>
            <a:r>
              <a:rPr lang="en-IN" dirty="0" smtClean="0"/>
              <a:t>The </a:t>
            </a:r>
            <a:r>
              <a:rPr lang="en-IN" dirty="0"/>
              <a:t>square() function is applied to each number in the numbers list, and the result is returned as an iterator that is converted to a list for display.</a:t>
            </a:r>
          </a:p>
        </p:txBody>
      </p:sp>
    </p:spTree>
    <p:extLst>
      <p:ext uri="{BB962C8B-B14F-4D97-AF65-F5344CB8AC3E}">
        <p14:creationId xmlns:p14="http://schemas.microsoft.com/office/powerpoint/2010/main" val="34891135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Filtering</a:t>
            </a:r>
            <a:endParaRPr lang="en-IN" dirty="0"/>
          </a:p>
        </p:txBody>
      </p:sp>
      <p:sp>
        <p:nvSpPr>
          <p:cNvPr id="3" name="Content Placeholder 2"/>
          <p:cNvSpPr>
            <a:spLocks noGrp="1"/>
          </p:cNvSpPr>
          <p:nvPr>
            <p:ph sz="half" idx="1"/>
          </p:nvPr>
        </p:nvSpPr>
        <p:spPr/>
        <p:txBody>
          <a:bodyPr/>
          <a:lstStyle/>
          <a:p>
            <a:r>
              <a:rPr lang="en-IN" dirty="0" smtClean="0"/>
              <a:t>Filtering </a:t>
            </a:r>
            <a:r>
              <a:rPr lang="en-IN" dirty="0"/>
              <a:t>refers to the process of selecting elements from an </a:t>
            </a:r>
            <a:r>
              <a:rPr lang="en-IN" dirty="0" err="1"/>
              <a:t>iterable</a:t>
            </a:r>
            <a:r>
              <a:rPr lang="en-IN" dirty="0"/>
              <a:t> (like a list, tuple, or string) based on a </a:t>
            </a:r>
            <a:r>
              <a:rPr lang="en-IN" dirty="0" smtClean="0"/>
              <a:t>condition.</a:t>
            </a:r>
          </a:p>
          <a:p>
            <a:r>
              <a:rPr lang="en-IN" dirty="0" smtClean="0"/>
              <a:t>The </a:t>
            </a:r>
            <a:r>
              <a:rPr lang="en-IN" dirty="0"/>
              <a:t>filter() function is used to filter elements of an </a:t>
            </a:r>
            <a:r>
              <a:rPr lang="en-IN" dirty="0" err="1"/>
              <a:t>iterable</a:t>
            </a:r>
            <a:r>
              <a:rPr lang="en-IN" dirty="0"/>
              <a:t> based on a given function that defines the condition.</a:t>
            </a:r>
          </a:p>
        </p:txBody>
      </p:sp>
      <p:sp>
        <p:nvSpPr>
          <p:cNvPr id="4" name="Content Placeholder 3"/>
          <p:cNvSpPr>
            <a:spLocks noGrp="1"/>
          </p:cNvSpPr>
          <p:nvPr>
            <p:ph sz="half" idx="2"/>
          </p:nvPr>
        </p:nvSpPr>
        <p:spPr/>
        <p:txBody>
          <a:bodyPr/>
          <a:lstStyle/>
          <a:p>
            <a:r>
              <a:rPr lang="en-IN" dirty="0" smtClean="0"/>
              <a:t>Syntax:</a:t>
            </a:r>
          </a:p>
          <a:p>
            <a:pPr marL="0" indent="0">
              <a:buNone/>
            </a:pPr>
            <a:r>
              <a:rPr lang="en-IN" i="1" dirty="0" smtClean="0"/>
              <a:t>filter(function</a:t>
            </a:r>
            <a:r>
              <a:rPr lang="en-IN" i="1" dirty="0"/>
              <a:t>, </a:t>
            </a:r>
            <a:r>
              <a:rPr lang="en-IN" i="1" dirty="0" err="1"/>
              <a:t>iterable</a:t>
            </a:r>
            <a:r>
              <a:rPr lang="en-IN" i="1" dirty="0"/>
              <a:t>)</a:t>
            </a:r>
          </a:p>
          <a:p>
            <a:r>
              <a:rPr lang="en-IN" dirty="0"/>
              <a:t>function: A function that defines the condition to filter elements. This function should return True or False for each element of the </a:t>
            </a:r>
            <a:r>
              <a:rPr lang="en-IN" dirty="0" err="1"/>
              <a:t>iterable</a:t>
            </a:r>
            <a:r>
              <a:rPr lang="en-IN" dirty="0" smtClean="0"/>
              <a:t>.</a:t>
            </a:r>
          </a:p>
          <a:p>
            <a:r>
              <a:rPr lang="en-IN" dirty="0" err="1" smtClean="0"/>
              <a:t>iterable</a:t>
            </a:r>
            <a:r>
              <a:rPr lang="en-IN" dirty="0"/>
              <a:t>: The </a:t>
            </a:r>
            <a:r>
              <a:rPr lang="en-IN" dirty="0" err="1"/>
              <a:t>iterable</a:t>
            </a:r>
            <a:r>
              <a:rPr lang="en-IN" dirty="0"/>
              <a:t> (like a list, tuple, etc.) whose elements will be checked by the function.</a:t>
            </a:r>
          </a:p>
        </p:txBody>
      </p:sp>
    </p:spTree>
    <p:extLst>
      <p:ext uri="{BB962C8B-B14F-4D97-AF65-F5344CB8AC3E}">
        <p14:creationId xmlns:p14="http://schemas.microsoft.com/office/powerpoint/2010/main" val="8123400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Examples</a:t>
            </a:r>
            <a:endParaRPr lang="en-IN" dirty="0"/>
          </a:p>
        </p:txBody>
      </p:sp>
      <p:sp>
        <p:nvSpPr>
          <p:cNvPr id="3" name="Content Placeholder 2"/>
          <p:cNvSpPr>
            <a:spLocks noGrp="1"/>
          </p:cNvSpPr>
          <p:nvPr>
            <p:ph sz="half" idx="1"/>
          </p:nvPr>
        </p:nvSpPr>
        <p:spPr/>
        <p:txBody>
          <a:bodyPr>
            <a:normAutofit fontScale="70000" lnSpcReduction="20000"/>
          </a:bodyPr>
          <a:lstStyle/>
          <a:p>
            <a:r>
              <a:rPr lang="en-IN" dirty="0"/>
              <a:t># Function to check if a number is even</a:t>
            </a:r>
          </a:p>
          <a:p>
            <a:r>
              <a:rPr lang="en-IN" dirty="0" err="1"/>
              <a:t>def</a:t>
            </a:r>
            <a:r>
              <a:rPr lang="en-IN" dirty="0"/>
              <a:t> </a:t>
            </a:r>
            <a:r>
              <a:rPr lang="en-IN" dirty="0" err="1"/>
              <a:t>is_even</a:t>
            </a:r>
            <a:r>
              <a:rPr lang="en-IN" dirty="0"/>
              <a:t>(x):</a:t>
            </a:r>
          </a:p>
          <a:p>
            <a:r>
              <a:rPr lang="en-IN" dirty="0"/>
              <a:t>    return x % 2 == 0</a:t>
            </a:r>
          </a:p>
          <a:p>
            <a:endParaRPr lang="en-IN" dirty="0"/>
          </a:p>
          <a:p>
            <a:r>
              <a:rPr lang="en-IN" dirty="0"/>
              <a:t># List of numbers</a:t>
            </a:r>
          </a:p>
          <a:p>
            <a:r>
              <a:rPr lang="en-IN" dirty="0"/>
              <a:t>numbers = [1, 2, 3, 4, 5, 6, 7, 8, 9, 10]</a:t>
            </a:r>
          </a:p>
          <a:p>
            <a:endParaRPr lang="en-IN" dirty="0"/>
          </a:p>
          <a:p>
            <a:r>
              <a:rPr lang="en-IN" dirty="0"/>
              <a:t># Using filter to get even numbers</a:t>
            </a:r>
          </a:p>
          <a:p>
            <a:r>
              <a:rPr lang="en-IN" dirty="0" err="1"/>
              <a:t>even_numbers</a:t>
            </a:r>
            <a:r>
              <a:rPr lang="en-IN" dirty="0"/>
              <a:t> = filter(</a:t>
            </a:r>
            <a:r>
              <a:rPr lang="en-IN" dirty="0" err="1"/>
              <a:t>is_even</a:t>
            </a:r>
            <a:r>
              <a:rPr lang="en-IN" dirty="0"/>
              <a:t>, numbers)</a:t>
            </a:r>
          </a:p>
          <a:p>
            <a:endParaRPr lang="en-IN" dirty="0"/>
          </a:p>
          <a:p>
            <a:r>
              <a:rPr lang="en-IN" dirty="0"/>
              <a:t># Converting the filter object to a list and printing</a:t>
            </a:r>
          </a:p>
          <a:p>
            <a:r>
              <a:rPr lang="en-IN" dirty="0"/>
              <a:t>print(list(</a:t>
            </a:r>
            <a:r>
              <a:rPr lang="en-IN" dirty="0" err="1"/>
              <a:t>even_numbers</a:t>
            </a:r>
            <a:r>
              <a:rPr lang="en-IN" dirty="0"/>
              <a:t>))  # Output: [2, 4, 6, 8, 10]</a:t>
            </a:r>
          </a:p>
          <a:p>
            <a:endParaRPr lang="en-IN" dirty="0"/>
          </a:p>
        </p:txBody>
      </p:sp>
      <p:sp>
        <p:nvSpPr>
          <p:cNvPr id="4" name="Content Placeholder 3"/>
          <p:cNvSpPr>
            <a:spLocks noGrp="1"/>
          </p:cNvSpPr>
          <p:nvPr>
            <p:ph sz="half" idx="2"/>
          </p:nvPr>
        </p:nvSpPr>
        <p:spPr/>
        <p:txBody>
          <a:bodyPr>
            <a:normAutofit fontScale="70000" lnSpcReduction="20000"/>
          </a:bodyPr>
          <a:lstStyle/>
          <a:p>
            <a:r>
              <a:rPr lang="en-IN" dirty="0"/>
              <a:t>Filtering Strings by Length</a:t>
            </a:r>
            <a:r>
              <a:rPr lang="en-IN" dirty="0" smtClean="0"/>
              <a:t>:</a:t>
            </a:r>
          </a:p>
          <a:p>
            <a:r>
              <a:rPr lang="en-IN" dirty="0"/>
              <a:t># List of strings</a:t>
            </a:r>
          </a:p>
          <a:p>
            <a:r>
              <a:rPr lang="en-IN" dirty="0"/>
              <a:t>words = ["apple", "banana", "cherry", "date", "elderberry"]</a:t>
            </a:r>
          </a:p>
          <a:p>
            <a:endParaRPr lang="en-IN" dirty="0"/>
          </a:p>
          <a:p>
            <a:r>
              <a:rPr lang="en-IN" dirty="0"/>
              <a:t># Filtering words with length greater than 5</a:t>
            </a:r>
          </a:p>
          <a:p>
            <a:r>
              <a:rPr lang="en-IN" dirty="0" err="1"/>
              <a:t>long_words</a:t>
            </a:r>
            <a:r>
              <a:rPr lang="en-IN" dirty="0"/>
              <a:t> = filter(lambda word: </a:t>
            </a:r>
            <a:r>
              <a:rPr lang="en-IN" dirty="0" err="1"/>
              <a:t>len</a:t>
            </a:r>
            <a:r>
              <a:rPr lang="en-IN" dirty="0"/>
              <a:t>(word) &gt; 5, words)</a:t>
            </a:r>
          </a:p>
          <a:p>
            <a:endParaRPr lang="en-IN" dirty="0"/>
          </a:p>
          <a:p>
            <a:r>
              <a:rPr lang="en-IN" dirty="0"/>
              <a:t># Converting the filter object to a list and printing</a:t>
            </a:r>
          </a:p>
          <a:p>
            <a:r>
              <a:rPr lang="en-IN" dirty="0"/>
              <a:t>print(list(</a:t>
            </a:r>
            <a:r>
              <a:rPr lang="en-IN" dirty="0" err="1"/>
              <a:t>long_words</a:t>
            </a:r>
            <a:r>
              <a:rPr lang="en-IN" dirty="0"/>
              <a:t>))  # Output: ['banana', 'cherry', 'elderberry']</a:t>
            </a:r>
          </a:p>
          <a:p>
            <a:endParaRPr lang="en-IN" dirty="0"/>
          </a:p>
        </p:txBody>
      </p:sp>
    </p:spTree>
    <p:extLst>
      <p:ext uri="{BB962C8B-B14F-4D97-AF65-F5344CB8AC3E}">
        <p14:creationId xmlns:p14="http://schemas.microsoft.com/office/powerpoint/2010/main" val="1445701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sz="half" idx="1"/>
          </p:nvPr>
        </p:nvSpPr>
        <p:spPr>
          <a:xfrm>
            <a:off x="609600" y="1673352"/>
            <a:ext cx="10865476" cy="4718304"/>
          </a:xfrm>
        </p:spPr>
        <p:txBody>
          <a:bodyPr>
            <a:normAutofit lnSpcReduction="10000"/>
          </a:bodyPr>
          <a:lstStyle/>
          <a:p>
            <a:r>
              <a:rPr lang="en-IN" dirty="0"/>
              <a:t>Filtering with Multiple Conditions</a:t>
            </a:r>
            <a:r>
              <a:rPr lang="en-IN" dirty="0" smtClean="0"/>
              <a:t>:</a:t>
            </a:r>
          </a:p>
          <a:p>
            <a:r>
              <a:rPr lang="en-IN" dirty="0"/>
              <a:t># List of numbers</a:t>
            </a:r>
          </a:p>
          <a:p>
            <a:r>
              <a:rPr lang="en-IN" dirty="0"/>
              <a:t>numbers = [1, 2, 3, 4, 5, 6, 7, 8, 9, 10]</a:t>
            </a:r>
          </a:p>
          <a:p>
            <a:endParaRPr lang="en-IN" dirty="0"/>
          </a:p>
          <a:p>
            <a:r>
              <a:rPr lang="en-IN" dirty="0"/>
              <a:t># Filter even numbers greater than 5</a:t>
            </a:r>
          </a:p>
          <a:p>
            <a:r>
              <a:rPr lang="en-IN" dirty="0" err="1"/>
              <a:t>even_and_greater_than_five</a:t>
            </a:r>
            <a:r>
              <a:rPr lang="en-IN" dirty="0"/>
              <a:t> = filter(lambda x: x % 2 == 0 and x &gt; 5, numbers)</a:t>
            </a:r>
          </a:p>
          <a:p>
            <a:endParaRPr lang="en-IN" dirty="0"/>
          </a:p>
          <a:p>
            <a:r>
              <a:rPr lang="en-IN" dirty="0"/>
              <a:t># Converting the filter object to a list and printing</a:t>
            </a:r>
          </a:p>
          <a:p>
            <a:r>
              <a:rPr lang="en-IN" dirty="0"/>
              <a:t>print(list(</a:t>
            </a:r>
            <a:r>
              <a:rPr lang="en-IN" dirty="0" err="1"/>
              <a:t>even_and_greater_than_five</a:t>
            </a:r>
            <a:r>
              <a:rPr lang="en-IN" dirty="0"/>
              <a:t>))  # Output: [6, 8, 10]</a:t>
            </a:r>
          </a:p>
          <a:p>
            <a:endParaRPr lang="en-IN" dirty="0"/>
          </a:p>
        </p:txBody>
      </p:sp>
    </p:spTree>
    <p:extLst>
      <p:ext uri="{BB962C8B-B14F-4D97-AF65-F5344CB8AC3E}">
        <p14:creationId xmlns:p14="http://schemas.microsoft.com/office/powerpoint/2010/main" val="2984394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Reduction</a:t>
            </a:r>
            <a:endParaRPr lang="en-IN" dirty="0"/>
          </a:p>
        </p:txBody>
      </p:sp>
      <p:sp>
        <p:nvSpPr>
          <p:cNvPr id="3" name="Content Placeholder 2"/>
          <p:cNvSpPr>
            <a:spLocks noGrp="1"/>
          </p:cNvSpPr>
          <p:nvPr>
            <p:ph sz="half" idx="1"/>
          </p:nvPr>
        </p:nvSpPr>
        <p:spPr/>
        <p:txBody>
          <a:bodyPr>
            <a:normAutofit fontScale="77500" lnSpcReduction="20000"/>
          </a:bodyPr>
          <a:lstStyle/>
          <a:p>
            <a:r>
              <a:rPr lang="en-IN" dirty="0" smtClean="0"/>
              <a:t>Reduction </a:t>
            </a:r>
            <a:r>
              <a:rPr lang="en-IN" dirty="0"/>
              <a:t>refers to the process of applying a function cumulatively to the items of an </a:t>
            </a:r>
            <a:r>
              <a:rPr lang="en-IN" dirty="0" err="1"/>
              <a:t>iterable</a:t>
            </a:r>
            <a:r>
              <a:rPr lang="en-IN" dirty="0"/>
              <a:t> (e.g., a list, tuple) to reduce the </a:t>
            </a:r>
            <a:r>
              <a:rPr lang="en-IN" dirty="0" err="1"/>
              <a:t>iterable</a:t>
            </a:r>
            <a:r>
              <a:rPr lang="en-IN" dirty="0"/>
              <a:t> to a single value</a:t>
            </a:r>
            <a:r>
              <a:rPr lang="en-IN" dirty="0" smtClean="0"/>
              <a:t>.</a:t>
            </a:r>
          </a:p>
          <a:p>
            <a:r>
              <a:rPr lang="en-IN" dirty="0" smtClean="0"/>
              <a:t> </a:t>
            </a:r>
            <a:r>
              <a:rPr lang="en-IN" dirty="0"/>
              <a:t>The most common function used for reduction is </a:t>
            </a:r>
            <a:r>
              <a:rPr lang="en-IN" dirty="0" err="1"/>
              <a:t>functools.reduce</a:t>
            </a:r>
            <a:r>
              <a:rPr lang="en-IN" dirty="0"/>
              <a:t>(). The reduce() function repeatedly applies a binary function to the elements of an </a:t>
            </a:r>
            <a:r>
              <a:rPr lang="en-IN" dirty="0" err="1"/>
              <a:t>iterable</a:t>
            </a:r>
            <a:r>
              <a:rPr lang="en-IN" dirty="0"/>
              <a:t>.</a:t>
            </a:r>
          </a:p>
        </p:txBody>
      </p:sp>
      <p:sp>
        <p:nvSpPr>
          <p:cNvPr id="4" name="Content Placeholder 3"/>
          <p:cNvSpPr>
            <a:spLocks noGrp="1"/>
          </p:cNvSpPr>
          <p:nvPr>
            <p:ph sz="half" idx="2"/>
          </p:nvPr>
        </p:nvSpPr>
        <p:spPr/>
        <p:txBody>
          <a:bodyPr>
            <a:normAutofit fontScale="77500" lnSpcReduction="20000"/>
          </a:bodyPr>
          <a:lstStyle/>
          <a:p>
            <a:r>
              <a:rPr lang="en-IN" dirty="0" smtClean="0"/>
              <a:t>Syntax</a:t>
            </a:r>
            <a:endParaRPr lang="en-IN" dirty="0"/>
          </a:p>
          <a:p>
            <a:pPr marL="0" indent="0">
              <a:buNone/>
            </a:pPr>
            <a:r>
              <a:rPr lang="en-IN" i="1" dirty="0"/>
              <a:t>from </a:t>
            </a:r>
            <a:r>
              <a:rPr lang="en-IN" i="1" dirty="0" err="1"/>
              <a:t>functools</a:t>
            </a:r>
            <a:r>
              <a:rPr lang="en-IN" i="1" dirty="0"/>
              <a:t> import </a:t>
            </a:r>
            <a:r>
              <a:rPr lang="en-IN" i="1" dirty="0" smtClean="0"/>
              <a:t>reduce</a:t>
            </a:r>
            <a:endParaRPr lang="en-IN" i="1" dirty="0"/>
          </a:p>
          <a:p>
            <a:pPr marL="0" indent="0">
              <a:buNone/>
            </a:pPr>
            <a:r>
              <a:rPr lang="en-IN" i="1" dirty="0"/>
              <a:t>reduce(function, </a:t>
            </a:r>
            <a:r>
              <a:rPr lang="en-IN" i="1" dirty="0" err="1"/>
              <a:t>iterable</a:t>
            </a:r>
            <a:r>
              <a:rPr lang="en-IN" i="1" dirty="0"/>
              <a:t>, [initial])</a:t>
            </a:r>
          </a:p>
          <a:p>
            <a:r>
              <a:rPr lang="en-IN" dirty="0"/>
              <a:t>function: A binary function (a function that takes two arguments) that will be applied to the elements of the </a:t>
            </a:r>
            <a:r>
              <a:rPr lang="en-IN" dirty="0" err="1"/>
              <a:t>iterable</a:t>
            </a:r>
            <a:r>
              <a:rPr lang="en-IN" dirty="0"/>
              <a:t>. The function must accept two arguments and return a single value</a:t>
            </a:r>
            <a:r>
              <a:rPr lang="en-IN" dirty="0" smtClean="0"/>
              <a:t>.</a:t>
            </a:r>
          </a:p>
          <a:p>
            <a:r>
              <a:rPr lang="en-IN" dirty="0" err="1" smtClean="0"/>
              <a:t>iterable</a:t>
            </a:r>
            <a:r>
              <a:rPr lang="en-IN" dirty="0"/>
              <a:t>: The </a:t>
            </a:r>
            <a:r>
              <a:rPr lang="en-IN" dirty="0" err="1"/>
              <a:t>iterable</a:t>
            </a:r>
            <a:r>
              <a:rPr lang="en-IN" dirty="0"/>
              <a:t> whose elements will be reduced</a:t>
            </a:r>
            <a:r>
              <a:rPr lang="en-IN" dirty="0" smtClean="0"/>
              <a:t>.</a:t>
            </a:r>
          </a:p>
          <a:p>
            <a:r>
              <a:rPr lang="en-IN" dirty="0" smtClean="0"/>
              <a:t>initial </a:t>
            </a:r>
            <a:r>
              <a:rPr lang="en-IN" dirty="0"/>
              <a:t>(optional): A starting value for the reduction. If not provided, the first element of the </a:t>
            </a:r>
            <a:r>
              <a:rPr lang="en-IN" dirty="0" err="1"/>
              <a:t>iterable</a:t>
            </a:r>
            <a:r>
              <a:rPr lang="en-IN" dirty="0"/>
              <a:t> is used as the initial value</a:t>
            </a:r>
          </a:p>
        </p:txBody>
      </p:sp>
    </p:spTree>
    <p:extLst>
      <p:ext uri="{BB962C8B-B14F-4D97-AF65-F5344CB8AC3E}">
        <p14:creationId xmlns:p14="http://schemas.microsoft.com/office/powerpoint/2010/main" val="31628994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Examples</a:t>
            </a:r>
            <a:endParaRPr lang="en-IN" dirty="0"/>
          </a:p>
        </p:txBody>
      </p:sp>
      <p:sp>
        <p:nvSpPr>
          <p:cNvPr id="3" name="Content Placeholder 2"/>
          <p:cNvSpPr>
            <a:spLocks noGrp="1"/>
          </p:cNvSpPr>
          <p:nvPr>
            <p:ph sz="half" idx="1"/>
          </p:nvPr>
        </p:nvSpPr>
        <p:spPr/>
        <p:txBody>
          <a:bodyPr>
            <a:normAutofit fontScale="92500" lnSpcReduction="20000"/>
          </a:bodyPr>
          <a:lstStyle/>
          <a:p>
            <a:r>
              <a:rPr lang="en-IN" dirty="0"/>
              <a:t>Summing All Numbers in a List</a:t>
            </a:r>
            <a:r>
              <a:rPr lang="en-IN" dirty="0" smtClean="0"/>
              <a:t>:</a:t>
            </a:r>
          </a:p>
          <a:p>
            <a:endParaRPr lang="en-IN" dirty="0" smtClean="0"/>
          </a:p>
          <a:p>
            <a:r>
              <a:rPr lang="en-IN" dirty="0" smtClean="0"/>
              <a:t>from </a:t>
            </a:r>
            <a:r>
              <a:rPr lang="en-IN" dirty="0" err="1"/>
              <a:t>functools</a:t>
            </a:r>
            <a:r>
              <a:rPr lang="en-IN" dirty="0"/>
              <a:t> import </a:t>
            </a:r>
            <a:r>
              <a:rPr lang="en-IN" dirty="0" smtClean="0"/>
              <a:t>reduce</a:t>
            </a:r>
            <a:endParaRPr lang="en-IN" dirty="0"/>
          </a:p>
          <a:p>
            <a:r>
              <a:rPr lang="en-IN" dirty="0"/>
              <a:t>numbers = [1, 2, 3, 4, 5]</a:t>
            </a:r>
          </a:p>
          <a:p>
            <a:endParaRPr lang="en-IN" dirty="0"/>
          </a:p>
          <a:p>
            <a:r>
              <a:rPr lang="en-IN" dirty="0"/>
              <a:t># Using reduce to sum all numbers</a:t>
            </a:r>
          </a:p>
          <a:p>
            <a:r>
              <a:rPr lang="en-IN" dirty="0" err="1"/>
              <a:t>sum_result</a:t>
            </a:r>
            <a:r>
              <a:rPr lang="en-IN" dirty="0"/>
              <a:t> = reduce(lambda x, y: x + y, numbers)</a:t>
            </a:r>
          </a:p>
          <a:p>
            <a:endParaRPr lang="en-IN" dirty="0"/>
          </a:p>
          <a:p>
            <a:r>
              <a:rPr lang="en-IN" dirty="0"/>
              <a:t>print(</a:t>
            </a:r>
            <a:r>
              <a:rPr lang="en-IN" dirty="0" err="1"/>
              <a:t>sum_result</a:t>
            </a:r>
            <a:r>
              <a:rPr lang="en-IN" dirty="0"/>
              <a:t>)  # Output: 15</a:t>
            </a:r>
          </a:p>
          <a:p>
            <a:endParaRPr lang="en-IN" dirty="0"/>
          </a:p>
        </p:txBody>
      </p:sp>
      <p:sp>
        <p:nvSpPr>
          <p:cNvPr id="4" name="Content Placeholder 3"/>
          <p:cNvSpPr>
            <a:spLocks noGrp="1"/>
          </p:cNvSpPr>
          <p:nvPr>
            <p:ph sz="half" idx="2"/>
          </p:nvPr>
        </p:nvSpPr>
        <p:spPr/>
        <p:txBody>
          <a:bodyPr>
            <a:normAutofit fontScale="92500" lnSpcReduction="20000"/>
          </a:bodyPr>
          <a:lstStyle/>
          <a:p>
            <a:r>
              <a:rPr lang="en-IN" dirty="0"/>
              <a:t>Multiplying All Numbers in a List</a:t>
            </a:r>
            <a:r>
              <a:rPr lang="en-IN" dirty="0" smtClean="0"/>
              <a:t>:</a:t>
            </a:r>
          </a:p>
          <a:p>
            <a:endParaRPr lang="en-IN" dirty="0" smtClean="0"/>
          </a:p>
          <a:p>
            <a:r>
              <a:rPr lang="en-IN" dirty="0" smtClean="0"/>
              <a:t>from </a:t>
            </a:r>
            <a:r>
              <a:rPr lang="en-IN" dirty="0" err="1"/>
              <a:t>functools</a:t>
            </a:r>
            <a:r>
              <a:rPr lang="en-IN" dirty="0"/>
              <a:t> import </a:t>
            </a:r>
            <a:r>
              <a:rPr lang="en-IN" dirty="0" smtClean="0"/>
              <a:t>reduce</a:t>
            </a:r>
            <a:endParaRPr lang="en-IN" dirty="0"/>
          </a:p>
          <a:p>
            <a:r>
              <a:rPr lang="en-IN" dirty="0"/>
              <a:t>numbers = [1, 2, 3, 4, 5]</a:t>
            </a:r>
          </a:p>
          <a:p>
            <a:endParaRPr lang="en-IN" dirty="0"/>
          </a:p>
          <a:p>
            <a:r>
              <a:rPr lang="en-IN" dirty="0"/>
              <a:t># Using reduce to multiply all numbers</a:t>
            </a:r>
          </a:p>
          <a:p>
            <a:r>
              <a:rPr lang="en-IN" dirty="0" err="1"/>
              <a:t>product_result</a:t>
            </a:r>
            <a:r>
              <a:rPr lang="en-IN" dirty="0"/>
              <a:t> = reduce(lambda x, y: x * y, numbers)</a:t>
            </a:r>
          </a:p>
          <a:p>
            <a:endParaRPr lang="en-IN" dirty="0"/>
          </a:p>
          <a:p>
            <a:r>
              <a:rPr lang="en-IN" dirty="0"/>
              <a:t>print(</a:t>
            </a:r>
            <a:r>
              <a:rPr lang="en-IN" dirty="0" err="1"/>
              <a:t>product_result</a:t>
            </a:r>
            <a:r>
              <a:rPr lang="en-IN" dirty="0"/>
              <a:t>)  # Output: 120</a:t>
            </a:r>
          </a:p>
          <a:p>
            <a:endParaRPr lang="en-IN" dirty="0"/>
          </a:p>
        </p:txBody>
      </p:sp>
    </p:spTree>
    <p:extLst>
      <p:ext uri="{BB962C8B-B14F-4D97-AF65-F5344CB8AC3E}">
        <p14:creationId xmlns:p14="http://schemas.microsoft.com/office/powerpoint/2010/main" val="32518920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0CD94C-72F0-0884-7B9D-7990AB2DFF31}"/>
              </a:ext>
            </a:extLst>
          </p:cNvPr>
          <p:cNvSpPr>
            <a:spLocks noGrp="1"/>
          </p:cNvSpPr>
          <p:nvPr>
            <p:ph type="title"/>
          </p:nvPr>
        </p:nvSpPr>
        <p:spPr/>
        <p:txBody>
          <a:bodyPr/>
          <a:lstStyle/>
          <a:p>
            <a:r>
              <a:rPr lang="en-IN" dirty="0"/>
              <a:t>Lambda function(Function without name)</a:t>
            </a:r>
            <a:endParaRPr lang="en-GB" dirty="0"/>
          </a:p>
        </p:txBody>
      </p:sp>
      <p:pic>
        <p:nvPicPr>
          <p:cNvPr id="5" name="Content Placeholder 4">
            <a:extLst>
              <a:ext uri="{FF2B5EF4-FFF2-40B4-BE49-F238E27FC236}">
                <a16:creationId xmlns:a16="http://schemas.microsoft.com/office/drawing/2014/main" xmlns="" id="{5508ADC4-BCE1-8FD5-A77A-93D065016477}"/>
              </a:ext>
            </a:extLst>
          </p:cNvPr>
          <p:cNvPicPr>
            <a:picLocks noGrp="1" noChangeAspect="1"/>
          </p:cNvPicPr>
          <p:nvPr>
            <p:ph sz="half" idx="1"/>
          </p:nvPr>
        </p:nvPicPr>
        <p:blipFill>
          <a:blip r:embed="rId2"/>
          <a:stretch>
            <a:fillRect/>
          </a:stretch>
        </p:blipFill>
        <p:spPr>
          <a:xfrm>
            <a:off x="838200" y="2543969"/>
            <a:ext cx="5181600" cy="2914650"/>
          </a:xfrm>
          <a:prstGeom prst="rect">
            <a:avLst/>
          </a:prstGeom>
        </p:spPr>
      </p:pic>
      <p:pic>
        <p:nvPicPr>
          <p:cNvPr id="6" name="Content Placeholder 5">
            <a:extLst>
              <a:ext uri="{FF2B5EF4-FFF2-40B4-BE49-F238E27FC236}">
                <a16:creationId xmlns:a16="http://schemas.microsoft.com/office/drawing/2014/main" xmlns="" id="{E1C18F68-ABC0-63B0-CEAE-E203FCDB65B7}"/>
              </a:ext>
            </a:extLst>
          </p:cNvPr>
          <p:cNvPicPr>
            <a:picLocks noGrp="1" noChangeAspect="1"/>
          </p:cNvPicPr>
          <p:nvPr>
            <p:ph sz="half" idx="2"/>
          </p:nvPr>
        </p:nvPicPr>
        <p:blipFill>
          <a:blip r:embed="rId3"/>
          <a:stretch>
            <a:fillRect/>
          </a:stretch>
        </p:blipFill>
        <p:spPr>
          <a:xfrm>
            <a:off x="6172200" y="1850671"/>
            <a:ext cx="5181600" cy="4301245"/>
          </a:xfrm>
          <a:prstGeom prst="rect">
            <a:avLst/>
          </a:prstGeom>
        </p:spPr>
      </p:pic>
    </p:spTree>
    <p:extLst>
      <p:ext uri="{BB962C8B-B14F-4D97-AF65-F5344CB8AC3E}">
        <p14:creationId xmlns:p14="http://schemas.microsoft.com/office/powerpoint/2010/main" val="29847932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Contd</a:t>
            </a:r>
            <a:r>
              <a:rPr lang="en-IN" dirty="0" smtClean="0"/>
              <a:t>…</a:t>
            </a:r>
            <a:endParaRPr lang="en-IN" dirty="0"/>
          </a:p>
        </p:txBody>
      </p:sp>
      <p:sp>
        <p:nvSpPr>
          <p:cNvPr id="3" name="Content Placeholder 2"/>
          <p:cNvSpPr>
            <a:spLocks noGrp="1"/>
          </p:cNvSpPr>
          <p:nvPr>
            <p:ph sz="half" idx="1"/>
          </p:nvPr>
        </p:nvSpPr>
        <p:spPr/>
        <p:txBody>
          <a:bodyPr>
            <a:normAutofit lnSpcReduction="10000"/>
          </a:bodyPr>
          <a:lstStyle/>
          <a:p>
            <a:r>
              <a:rPr lang="en-IN" dirty="0"/>
              <a:t> lambda function in Python is a small, anonymous function defined using the lambda keyword. </a:t>
            </a:r>
            <a:endParaRPr lang="en-IN" dirty="0" smtClean="0"/>
          </a:p>
          <a:p>
            <a:r>
              <a:rPr lang="en-IN" dirty="0" smtClean="0"/>
              <a:t>Unlike </a:t>
            </a:r>
            <a:r>
              <a:rPr lang="en-IN" dirty="0"/>
              <a:t>regular functions that are defined using the </a:t>
            </a:r>
            <a:r>
              <a:rPr lang="en-IN" dirty="0" err="1"/>
              <a:t>def</a:t>
            </a:r>
            <a:r>
              <a:rPr lang="en-IN" dirty="0"/>
              <a:t> keyword, lambda functions are typically used for short, throwaway functions where defining a full function with </a:t>
            </a:r>
            <a:r>
              <a:rPr lang="en-IN" dirty="0" err="1"/>
              <a:t>def</a:t>
            </a:r>
            <a:r>
              <a:rPr lang="en-IN" dirty="0"/>
              <a:t> would be unnecessary.</a:t>
            </a:r>
          </a:p>
        </p:txBody>
      </p:sp>
      <p:sp>
        <p:nvSpPr>
          <p:cNvPr id="4" name="Content Placeholder 3"/>
          <p:cNvSpPr>
            <a:spLocks noGrp="1"/>
          </p:cNvSpPr>
          <p:nvPr>
            <p:ph sz="half" idx="2"/>
          </p:nvPr>
        </p:nvSpPr>
        <p:spPr/>
        <p:txBody>
          <a:bodyPr>
            <a:normAutofit lnSpcReduction="10000"/>
          </a:bodyPr>
          <a:lstStyle/>
          <a:p>
            <a:r>
              <a:rPr lang="en-IN" dirty="0" smtClean="0"/>
              <a:t>Syntax</a:t>
            </a:r>
            <a:endParaRPr lang="en-IN" dirty="0"/>
          </a:p>
          <a:p>
            <a:pPr marL="0" indent="0">
              <a:buNone/>
            </a:pPr>
            <a:r>
              <a:rPr lang="en-IN" i="1" dirty="0" smtClean="0"/>
              <a:t>lambda </a:t>
            </a:r>
            <a:r>
              <a:rPr lang="en-IN" i="1" dirty="0"/>
              <a:t>arguments: </a:t>
            </a:r>
            <a:r>
              <a:rPr lang="en-IN" i="1" dirty="0" smtClean="0"/>
              <a:t>expression</a:t>
            </a:r>
          </a:p>
          <a:p>
            <a:pPr marL="0" indent="0">
              <a:buNone/>
            </a:pPr>
            <a:endParaRPr lang="en-IN" i="1" dirty="0"/>
          </a:p>
          <a:p>
            <a:r>
              <a:rPr lang="en-IN" dirty="0"/>
              <a:t>arguments: A comma-separated list of parameters (like the parameters of a regular function</a:t>
            </a:r>
            <a:r>
              <a:rPr lang="en-IN" dirty="0" smtClean="0"/>
              <a:t>).</a:t>
            </a:r>
          </a:p>
          <a:p>
            <a:r>
              <a:rPr lang="en-IN" dirty="0" smtClean="0"/>
              <a:t>expression</a:t>
            </a:r>
            <a:r>
              <a:rPr lang="en-IN" dirty="0"/>
              <a:t>: A single expression that is evaluated and returned. The expression cannot contain multiple statements.</a:t>
            </a:r>
          </a:p>
        </p:txBody>
      </p:sp>
    </p:spTree>
    <p:extLst>
      <p:ext uri="{BB962C8B-B14F-4D97-AF65-F5344CB8AC3E}">
        <p14:creationId xmlns:p14="http://schemas.microsoft.com/office/powerpoint/2010/main" val="6098534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Contd</a:t>
            </a:r>
            <a:r>
              <a:rPr lang="en-IN" dirty="0" smtClean="0"/>
              <a:t>…</a:t>
            </a:r>
            <a:endParaRPr lang="en-IN" dirty="0"/>
          </a:p>
        </p:txBody>
      </p:sp>
      <p:sp>
        <p:nvSpPr>
          <p:cNvPr id="3" name="Content Placeholder 2"/>
          <p:cNvSpPr>
            <a:spLocks noGrp="1"/>
          </p:cNvSpPr>
          <p:nvPr>
            <p:ph sz="half" idx="1"/>
          </p:nvPr>
        </p:nvSpPr>
        <p:spPr/>
        <p:txBody>
          <a:bodyPr>
            <a:normAutofit fontScale="85000" lnSpcReduction="20000"/>
          </a:bodyPr>
          <a:lstStyle/>
          <a:p>
            <a:r>
              <a:rPr lang="en-IN" dirty="0" smtClean="0"/>
              <a:t>Example</a:t>
            </a:r>
          </a:p>
          <a:p>
            <a:pPr marL="0" indent="0">
              <a:buNone/>
            </a:pPr>
            <a:endParaRPr lang="en-IN" dirty="0" smtClean="0"/>
          </a:p>
          <a:p>
            <a:r>
              <a:rPr lang="en-IN" dirty="0" smtClean="0"/>
              <a:t># </a:t>
            </a:r>
            <a:r>
              <a:rPr lang="en-IN" dirty="0"/>
              <a:t>Lambda function to add two numbers</a:t>
            </a:r>
          </a:p>
          <a:p>
            <a:r>
              <a:rPr lang="en-IN" dirty="0"/>
              <a:t>add = lambda x, y: x + y</a:t>
            </a:r>
          </a:p>
          <a:p>
            <a:endParaRPr lang="en-IN" dirty="0"/>
          </a:p>
          <a:p>
            <a:r>
              <a:rPr lang="en-IN" dirty="0"/>
              <a:t># Calling the lambda function</a:t>
            </a:r>
          </a:p>
          <a:p>
            <a:r>
              <a:rPr lang="en-IN" dirty="0"/>
              <a:t>result = add(3, 5)</a:t>
            </a:r>
          </a:p>
          <a:p>
            <a:r>
              <a:rPr lang="en-IN" dirty="0"/>
              <a:t>print(result)  # Output: 8</a:t>
            </a:r>
          </a:p>
          <a:p>
            <a:endParaRPr lang="en-IN" dirty="0"/>
          </a:p>
        </p:txBody>
      </p:sp>
      <p:sp>
        <p:nvSpPr>
          <p:cNvPr id="4" name="Content Placeholder 3"/>
          <p:cNvSpPr>
            <a:spLocks noGrp="1"/>
          </p:cNvSpPr>
          <p:nvPr>
            <p:ph sz="half" idx="2"/>
          </p:nvPr>
        </p:nvSpPr>
        <p:spPr/>
        <p:txBody>
          <a:bodyPr>
            <a:normAutofit fontScale="85000" lnSpcReduction="20000"/>
          </a:bodyPr>
          <a:lstStyle/>
          <a:p>
            <a:r>
              <a:rPr lang="en-IN" dirty="0" smtClean="0"/>
              <a:t>Using lambda with map()</a:t>
            </a:r>
          </a:p>
          <a:p>
            <a:endParaRPr lang="en-IN" dirty="0" smtClean="0"/>
          </a:p>
          <a:p>
            <a:r>
              <a:rPr lang="en-IN" dirty="0" smtClean="0"/>
              <a:t>numbers </a:t>
            </a:r>
            <a:r>
              <a:rPr lang="en-IN" dirty="0"/>
              <a:t>= [1, 2, 3, 4, 5]</a:t>
            </a:r>
          </a:p>
          <a:p>
            <a:endParaRPr lang="en-IN" dirty="0"/>
          </a:p>
          <a:p>
            <a:r>
              <a:rPr lang="en-IN" dirty="0"/>
              <a:t># Using lambda to square each number in the list</a:t>
            </a:r>
          </a:p>
          <a:p>
            <a:r>
              <a:rPr lang="en-IN" dirty="0" err="1"/>
              <a:t>squared_numbers</a:t>
            </a:r>
            <a:r>
              <a:rPr lang="en-IN" dirty="0"/>
              <a:t> = map(lambda x: x * x, numbers)</a:t>
            </a:r>
          </a:p>
          <a:p>
            <a:endParaRPr lang="en-IN" dirty="0"/>
          </a:p>
          <a:p>
            <a:r>
              <a:rPr lang="en-IN" dirty="0"/>
              <a:t># Converting map object to a list and printing</a:t>
            </a:r>
          </a:p>
          <a:p>
            <a:r>
              <a:rPr lang="en-IN" dirty="0"/>
              <a:t>print(list(</a:t>
            </a:r>
            <a:r>
              <a:rPr lang="en-IN" dirty="0" err="1"/>
              <a:t>squared_numbers</a:t>
            </a:r>
            <a:r>
              <a:rPr lang="en-IN" dirty="0"/>
              <a:t>))  # Output: [1, 4, 9, 16, 25]</a:t>
            </a:r>
          </a:p>
          <a:p>
            <a:endParaRPr lang="en-IN" dirty="0"/>
          </a:p>
        </p:txBody>
      </p:sp>
    </p:spTree>
    <p:extLst>
      <p:ext uri="{BB962C8B-B14F-4D97-AF65-F5344CB8AC3E}">
        <p14:creationId xmlns:p14="http://schemas.microsoft.com/office/powerpoint/2010/main" val="1671451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Contd</a:t>
            </a:r>
            <a:r>
              <a:rPr lang="en-IN" dirty="0" smtClean="0"/>
              <a:t>…</a:t>
            </a:r>
            <a:endParaRPr lang="en-IN" dirty="0"/>
          </a:p>
        </p:txBody>
      </p:sp>
      <p:sp>
        <p:nvSpPr>
          <p:cNvPr id="3" name="Content Placeholder 2"/>
          <p:cNvSpPr>
            <a:spLocks noGrp="1"/>
          </p:cNvSpPr>
          <p:nvPr>
            <p:ph sz="half" idx="1"/>
          </p:nvPr>
        </p:nvSpPr>
        <p:spPr/>
        <p:txBody>
          <a:bodyPr>
            <a:normAutofit fontScale="77500" lnSpcReduction="20000"/>
          </a:bodyPr>
          <a:lstStyle/>
          <a:p>
            <a:r>
              <a:rPr lang="en-IN" dirty="0"/>
              <a:t>Using a lambda </a:t>
            </a:r>
            <a:r>
              <a:rPr lang="en-IN" dirty="0" smtClean="0"/>
              <a:t>with </a:t>
            </a:r>
            <a:r>
              <a:rPr lang="en-IN" dirty="0"/>
              <a:t>filter</a:t>
            </a:r>
            <a:r>
              <a:rPr lang="en-IN" dirty="0" smtClean="0"/>
              <a:t>()</a:t>
            </a:r>
          </a:p>
          <a:p>
            <a:endParaRPr lang="en-IN" dirty="0" smtClean="0"/>
          </a:p>
          <a:p>
            <a:r>
              <a:rPr lang="en-IN" dirty="0" smtClean="0"/>
              <a:t>numbers </a:t>
            </a:r>
            <a:r>
              <a:rPr lang="en-IN" dirty="0"/>
              <a:t>= [1, 2, 3, 4, 5, 6]</a:t>
            </a:r>
          </a:p>
          <a:p>
            <a:endParaRPr lang="en-IN" dirty="0"/>
          </a:p>
          <a:p>
            <a:r>
              <a:rPr lang="en-IN" dirty="0"/>
              <a:t># Using lambda to filter even numbers</a:t>
            </a:r>
          </a:p>
          <a:p>
            <a:r>
              <a:rPr lang="en-IN" dirty="0" err="1"/>
              <a:t>even_numbers</a:t>
            </a:r>
            <a:r>
              <a:rPr lang="en-IN" dirty="0"/>
              <a:t> = filter(lambda x: x % 2 == 0, numbers)</a:t>
            </a:r>
          </a:p>
          <a:p>
            <a:endParaRPr lang="en-IN" dirty="0"/>
          </a:p>
          <a:p>
            <a:r>
              <a:rPr lang="en-IN" dirty="0"/>
              <a:t># Converting filter object to a list and printing</a:t>
            </a:r>
          </a:p>
          <a:p>
            <a:r>
              <a:rPr lang="en-IN" dirty="0"/>
              <a:t>print(list(</a:t>
            </a:r>
            <a:r>
              <a:rPr lang="en-IN" dirty="0" err="1"/>
              <a:t>even_numbers</a:t>
            </a:r>
            <a:r>
              <a:rPr lang="en-IN" dirty="0"/>
              <a:t>))  # Output: [2, 4, 6]</a:t>
            </a:r>
          </a:p>
          <a:p>
            <a:endParaRPr lang="en-IN" dirty="0"/>
          </a:p>
        </p:txBody>
      </p:sp>
      <p:sp>
        <p:nvSpPr>
          <p:cNvPr id="4" name="Content Placeholder 3"/>
          <p:cNvSpPr>
            <a:spLocks noGrp="1"/>
          </p:cNvSpPr>
          <p:nvPr>
            <p:ph sz="half" idx="2"/>
          </p:nvPr>
        </p:nvSpPr>
        <p:spPr/>
        <p:txBody>
          <a:bodyPr>
            <a:normAutofit fontScale="77500" lnSpcReduction="20000"/>
          </a:bodyPr>
          <a:lstStyle/>
          <a:p>
            <a:r>
              <a:rPr lang="en-IN" dirty="0" smtClean="0"/>
              <a:t>Lambda function with default arguments</a:t>
            </a:r>
          </a:p>
          <a:p>
            <a:endParaRPr lang="en-IN" dirty="0" smtClean="0"/>
          </a:p>
          <a:p>
            <a:r>
              <a:rPr lang="en-IN" dirty="0"/>
              <a:t># Lambda function with default argument</a:t>
            </a:r>
          </a:p>
          <a:p>
            <a:r>
              <a:rPr lang="en-IN" dirty="0"/>
              <a:t>greet = lambda name="Guest": </a:t>
            </a:r>
            <a:r>
              <a:rPr lang="en-IN" dirty="0" err="1"/>
              <a:t>f"Hello</a:t>
            </a:r>
            <a:r>
              <a:rPr lang="en-IN" dirty="0"/>
              <a:t>, {name}!"</a:t>
            </a:r>
          </a:p>
          <a:p>
            <a:endParaRPr lang="en-IN" dirty="0"/>
          </a:p>
          <a:p>
            <a:r>
              <a:rPr lang="en-IN" dirty="0"/>
              <a:t># Calling with a default value</a:t>
            </a:r>
          </a:p>
          <a:p>
            <a:r>
              <a:rPr lang="en-IN" dirty="0"/>
              <a:t>print(greet())  # Output: Hello, Guest!</a:t>
            </a:r>
          </a:p>
          <a:p>
            <a:endParaRPr lang="en-IN" dirty="0"/>
          </a:p>
          <a:p>
            <a:r>
              <a:rPr lang="en-IN" dirty="0"/>
              <a:t># Calling with a specific value</a:t>
            </a:r>
          </a:p>
          <a:p>
            <a:r>
              <a:rPr lang="en-IN" dirty="0"/>
              <a:t>print(greet("Alice"))  # Output: Hello, Alice!</a:t>
            </a:r>
          </a:p>
          <a:p>
            <a:endParaRPr lang="en-IN" dirty="0"/>
          </a:p>
        </p:txBody>
      </p:sp>
    </p:spTree>
    <p:extLst>
      <p:ext uri="{BB962C8B-B14F-4D97-AF65-F5344CB8AC3E}">
        <p14:creationId xmlns:p14="http://schemas.microsoft.com/office/powerpoint/2010/main" val="8494539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Contd</a:t>
            </a:r>
            <a:r>
              <a:rPr lang="en-IN" dirty="0" smtClean="0"/>
              <a:t>…</a:t>
            </a:r>
            <a:endParaRPr lang="en-IN" dirty="0"/>
          </a:p>
        </p:txBody>
      </p:sp>
      <p:sp>
        <p:nvSpPr>
          <p:cNvPr id="3" name="Content Placeholder 2"/>
          <p:cNvSpPr>
            <a:spLocks noGrp="1"/>
          </p:cNvSpPr>
          <p:nvPr>
            <p:ph sz="half" idx="1"/>
          </p:nvPr>
        </p:nvSpPr>
        <p:spPr/>
        <p:txBody>
          <a:bodyPr>
            <a:normAutofit fontScale="85000" lnSpcReduction="20000"/>
          </a:bodyPr>
          <a:lstStyle/>
          <a:p>
            <a:pPr marL="0" indent="0">
              <a:buNone/>
            </a:pPr>
            <a:r>
              <a:rPr lang="en-IN" b="1" dirty="0"/>
              <a:t>Advantages of Lambda Functions</a:t>
            </a:r>
            <a:r>
              <a:rPr lang="en-IN" b="1" dirty="0" smtClean="0"/>
              <a:t>:</a:t>
            </a:r>
          </a:p>
          <a:p>
            <a:r>
              <a:rPr lang="en-IN" b="1" dirty="0" smtClean="0"/>
              <a:t>Concise</a:t>
            </a:r>
            <a:r>
              <a:rPr lang="en-IN" dirty="0"/>
              <a:t>: Lambda functions are useful for creating small, one-off functions without having to formally define them</a:t>
            </a:r>
            <a:r>
              <a:rPr lang="en-IN" dirty="0" smtClean="0"/>
              <a:t>.</a:t>
            </a:r>
          </a:p>
          <a:p>
            <a:r>
              <a:rPr lang="en-IN" b="1" dirty="0" smtClean="0"/>
              <a:t>Inline </a:t>
            </a:r>
            <a:r>
              <a:rPr lang="en-IN" b="1" dirty="0"/>
              <a:t>Usage</a:t>
            </a:r>
            <a:r>
              <a:rPr lang="en-IN" dirty="0"/>
              <a:t>: They are particularly handy in situations where a function is needed temporarily, such as within map(), filter(), or sorted</a:t>
            </a:r>
            <a:r>
              <a:rPr lang="en-IN" dirty="0" smtClean="0"/>
              <a:t>().</a:t>
            </a:r>
          </a:p>
          <a:p>
            <a:r>
              <a:rPr lang="en-IN" b="1" dirty="0" smtClean="0"/>
              <a:t>No </a:t>
            </a:r>
            <a:r>
              <a:rPr lang="en-IN" b="1" dirty="0"/>
              <a:t>Need for Full Definition</a:t>
            </a:r>
            <a:r>
              <a:rPr lang="en-IN" dirty="0"/>
              <a:t>: For simple functionality, lambda functions are more compact and readable than defining a full function with def.</a:t>
            </a:r>
          </a:p>
        </p:txBody>
      </p:sp>
      <p:sp>
        <p:nvSpPr>
          <p:cNvPr id="4" name="Content Placeholder 3"/>
          <p:cNvSpPr>
            <a:spLocks noGrp="1"/>
          </p:cNvSpPr>
          <p:nvPr>
            <p:ph sz="half" idx="2"/>
          </p:nvPr>
        </p:nvSpPr>
        <p:spPr/>
        <p:txBody>
          <a:bodyPr>
            <a:normAutofit fontScale="85000" lnSpcReduction="20000"/>
          </a:bodyPr>
          <a:lstStyle/>
          <a:p>
            <a:r>
              <a:rPr lang="en-IN" b="1" dirty="0"/>
              <a:t>Disadvantages:</a:t>
            </a:r>
          </a:p>
          <a:p>
            <a:r>
              <a:rPr lang="en-IN" b="1" dirty="0"/>
              <a:t>Limited Functionality</a:t>
            </a:r>
            <a:r>
              <a:rPr lang="en-IN" dirty="0"/>
              <a:t>: Since lambda functions can only contain a single expression, they are not suitable for complex logic.</a:t>
            </a:r>
          </a:p>
          <a:p>
            <a:r>
              <a:rPr lang="en-IN" b="1" dirty="0"/>
              <a:t>Readability</a:t>
            </a:r>
            <a:r>
              <a:rPr lang="en-IN" dirty="0"/>
              <a:t>: If overused or used for complex operations, lambda functions can reduce the readability of the code.</a:t>
            </a:r>
          </a:p>
          <a:p>
            <a:endParaRPr lang="en-IN" dirty="0"/>
          </a:p>
        </p:txBody>
      </p:sp>
    </p:spTree>
    <p:extLst>
      <p:ext uri="{BB962C8B-B14F-4D97-AF65-F5344CB8AC3E}">
        <p14:creationId xmlns:p14="http://schemas.microsoft.com/office/powerpoint/2010/main" val="28423061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Contd</a:t>
            </a:r>
            <a:r>
              <a:rPr lang="en-IN" dirty="0" smtClean="0"/>
              <a:t>…</a:t>
            </a:r>
            <a:endParaRPr lang="en-IN" dirty="0"/>
          </a:p>
        </p:txBody>
      </p:sp>
      <p:sp>
        <p:nvSpPr>
          <p:cNvPr id="3" name="Content Placeholder 2"/>
          <p:cNvSpPr>
            <a:spLocks noGrp="1"/>
          </p:cNvSpPr>
          <p:nvPr>
            <p:ph sz="half" idx="1"/>
          </p:nvPr>
        </p:nvSpPr>
        <p:spPr>
          <a:xfrm>
            <a:off x="609600" y="1673352"/>
            <a:ext cx="10972800" cy="4718304"/>
          </a:xfrm>
        </p:spPr>
        <p:txBody>
          <a:bodyPr/>
          <a:lstStyle/>
          <a:p>
            <a:pPr marL="0" indent="0">
              <a:buNone/>
            </a:pPr>
            <a:r>
              <a:rPr lang="en-IN" dirty="0"/>
              <a:t>When to Use </a:t>
            </a:r>
            <a:r>
              <a:rPr lang="en-IN" dirty="0" smtClean="0"/>
              <a:t>Lambda Functions:</a:t>
            </a:r>
          </a:p>
          <a:p>
            <a:r>
              <a:rPr lang="en-IN" dirty="0"/>
              <a:t>When you need a simple, short function for a specific task (like filtering or mapping</a:t>
            </a:r>
            <a:r>
              <a:rPr lang="en-IN" dirty="0" smtClean="0"/>
              <a:t>).</a:t>
            </a:r>
          </a:p>
          <a:p>
            <a:r>
              <a:rPr lang="en-IN" dirty="0" smtClean="0"/>
              <a:t>When </a:t>
            </a:r>
            <a:r>
              <a:rPr lang="en-IN" dirty="0"/>
              <a:t>the function is only going to be used in a specific context and does not need to be reused</a:t>
            </a:r>
            <a:r>
              <a:rPr lang="en-IN" dirty="0" smtClean="0"/>
              <a:t>.</a:t>
            </a:r>
          </a:p>
          <a:p>
            <a:r>
              <a:rPr lang="en-IN" dirty="0" smtClean="0"/>
              <a:t>When </a:t>
            </a:r>
            <a:r>
              <a:rPr lang="en-IN" dirty="0"/>
              <a:t>you want to pass a function as an argument to other functions like map(), filter(), or sorted().</a:t>
            </a:r>
          </a:p>
        </p:txBody>
      </p:sp>
    </p:spTree>
    <p:extLst>
      <p:ext uri="{BB962C8B-B14F-4D97-AF65-F5344CB8AC3E}">
        <p14:creationId xmlns:p14="http://schemas.microsoft.com/office/powerpoint/2010/main" val="31457361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List Comprehension in Python</a:t>
            </a:r>
            <a:br>
              <a:rPr lang="en-IN" b="1" dirty="0"/>
            </a:br>
            <a:endParaRPr lang="en-IN" dirty="0"/>
          </a:p>
        </p:txBody>
      </p:sp>
      <p:sp>
        <p:nvSpPr>
          <p:cNvPr id="3" name="Content Placeholder 2"/>
          <p:cNvSpPr>
            <a:spLocks noGrp="1"/>
          </p:cNvSpPr>
          <p:nvPr>
            <p:ph sz="half" idx="1"/>
          </p:nvPr>
        </p:nvSpPr>
        <p:spPr/>
        <p:txBody>
          <a:bodyPr>
            <a:normAutofit lnSpcReduction="10000"/>
          </a:bodyPr>
          <a:lstStyle/>
          <a:p>
            <a:r>
              <a:rPr lang="en-US" b="1" dirty="0"/>
              <a:t>List comprehension</a:t>
            </a:r>
            <a:r>
              <a:rPr lang="en-US" dirty="0"/>
              <a:t> is a way to create lists using a concise syntax. It allows us to generate a new list by applying an </a:t>
            </a:r>
            <a:r>
              <a:rPr lang="en-US" b="1" dirty="0"/>
              <a:t>expression </a:t>
            </a:r>
            <a:r>
              <a:rPr lang="en-US" dirty="0"/>
              <a:t>to each item in an existing </a:t>
            </a:r>
            <a:r>
              <a:rPr lang="en-US" b="1" dirty="0" err="1"/>
              <a:t>iterable</a:t>
            </a:r>
            <a:r>
              <a:rPr lang="en-US" b="1" dirty="0"/>
              <a:t> </a:t>
            </a:r>
            <a:r>
              <a:rPr lang="en-US" dirty="0"/>
              <a:t>(such as a </a:t>
            </a:r>
            <a:r>
              <a:rPr lang="en-US" b="1" dirty="0"/>
              <a:t>list</a:t>
            </a:r>
            <a:r>
              <a:rPr lang="en-US" dirty="0"/>
              <a:t> or </a:t>
            </a:r>
            <a:r>
              <a:rPr lang="en-US" b="1" dirty="0"/>
              <a:t>range</a:t>
            </a:r>
            <a:r>
              <a:rPr lang="en-US" dirty="0"/>
              <a:t>). </a:t>
            </a:r>
            <a:endParaRPr lang="en-US" dirty="0" smtClean="0"/>
          </a:p>
          <a:p>
            <a:r>
              <a:rPr lang="en-US" dirty="0" smtClean="0"/>
              <a:t>This </a:t>
            </a:r>
            <a:r>
              <a:rPr lang="en-US" dirty="0"/>
              <a:t>helps us to write cleaner, more readable code compared to traditional looping techniques.</a:t>
            </a:r>
            <a:endParaRPr lang="en-IN" dirty="0"/>
          </a:p>
        </p:txBody>
      </p:sp>
      <p:sp>
        <p:nvSpPr>
          <p:cNvPr id="4" name="Content Placeholder 3"/>
          <p:cNvSpPr>
            <a:spLocks noGrp="1"/>
          </p:cNvSpPr>
          <p:nvPr>
            <p:ph sz="half" idx="2"/>
          </p:nvPr>
        </p:nvSpPr>
        <p:spPr>
          <a:xfrm>
            <a:off x="5828145" y="1673352"/>
            <a:ext cx="5754255" cy="4718304"/>
          </a:xfrm>
        </p:spPr>
        <p:txBody>
          <a:bodyPr>
            <a:normAutofit lnSpcReduction="10000"/>
          </a:bodyPr>
          <a:lstStyle/>
          <a:p>
            <a:r>
              <a:rPr lang="en-IN" b="1" dirty="0"/>
              <a:t>for loop vs. list </a:t>
            </a:r>
            <a:r>
              <a:rPr lang="en-IN" b="1" dirty="0" smtClean="0"/>
              <a:t>comprehension</a:t>
            </a:r>
          </a:p>
          <a:p>
            <a:endParaRPr lang="en-IN" b="1" dirty="0"/>
          </a:p>
          <a:p>
            <a:r>
              <a:rPr lang="en-US" dirty="0"/>
              <a:t>The main difference is that a for loop requires </a:t>
            </a:r>
            <a:r>
              <a:rPr lang="en-US" b="1" dirty="0"/>
              <a:t>multiple lines </a:t>
            </a:r>
            <a:r>
              <a:rPr lang="en-US" dirty="0"/>
              <a:t>to create a new list by iterating over items and manually adding each one. Whereas, list comprehension do the same task in a </a:t>
            </a:r>
            <a:r>
              <a:rPr lang="en-US" b="1" dirty="0"/>
              <a:t>single line, </a:t>
            </a:r>
            <a:r>
              <a:rPr lang="en-US" dirty="0"/>
              <a:t>this makes the code simpler and easier to read.</a:t>
            </a:r>
            <a:endParaRPr lang="en-IN" dirty="0"/>
          </a:p>
        </p:txBody>
      </p:sp>
    </p:spTree>
    <p:extLst>
      <p:ext uri="{BB962C8B-B14F-4D97-AF65-F5344CB8AC3E}">
        <p14:creationId xmlns:p14="http://schemas.microsoft.com/office/powerpoint/2010/main" val="38910108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Contd</a:t>
            </a:r>
            <a:r>
              <a:rPr lang="en-IN" dirty="0" smtClean="0"/>
              <a:t>…</a:t>
            </a:r>
            <a:endParaRPr lang="en-IN" dirty="0"/>
          </a:p>
        </p:txBody>
      </p:sp>
      <p:sp>
        <p:nvSpPr>
          <p:cNvPr id="3" name="Content Placeholder 2"/>
          <p:cNvSpPr>
            <a:spLocks noGrp="1"/>
          </p:cNvSpPr>
          <p:nvPr>
            <p:ph sz="half" idx="1"/>
          </p:nvPr>
        </p:nvSpPr>
        <p:spPr/>
        <p:txBody>
          <a:bodyPr>
            <a:normAutofit fontScale="85000" lnSpcReduction="20000"/>
          </a:bodyPr>
          <a:lstStyle/>
          <a:p>
            <a:r>
              <a:rPr lang="en-IN" dirty="0"/>
              <a:t>Syntax of list comprehension</a:t>
            </a:r>
          </a:p>
          <a:p>
            <a:pPr marL="0" indent="0" fontAlgn="base">
              <a:buNone/>
            </a:pPr>
            <a:r>
              <a:rPr lang="en-US" i="1" dirty="0"/>
              <a:t>[</a:t>
            </a:r>
            <a:r>
              <a:rPr lang="en-US" b="1" i="1" dirty="0"/>
              <a:t>expression </a:t>
            </a:r>
            <a:r>
              <a:rPr lang="en-US" i="1" dirty="0"/>
              <a:t>for </a:t>
            </a:r>
            <a:r>
              <a:rPr lang="en-US" b="1" i="1" dirty="0"/>
              <a:t>item </a:t>
            </a:r>
            <a:r>
              <a:rPr lang="en-US" i="1" dirty="0"/>
              <a:t>in </a:t>
            </a:r>
            <a:r>
              <a:rPr lang="en-US" b="1" i="1" dirty="0" err="1"/>
              <a:t>iterable</a:t>
            </a:r>
            <a:r>
              <a:rPr lang="en-US" b="1" i="1" dirty="0"/>
              <a:t> </a:t>
            </a:r>
            <a:r>
              <a:rPr lang="en-US" i="1" dirty="0"/>
              <a:t>if </a:t>
            </a:r>
            <a:r>
              <a:rPr lang="en-US" b="1" i="1" dirty="0"/>
              <a:t>condition</a:t>
            </a:r>
            <a:r>
              <a:rPr lang="en-US" i="1" dirty="0"/>
              <a:t>]</a:t>
            </a:r>
          </a:p>
          <a:p>
            <a:pPr fontAlgn="base"/>
            <a:r>
              <a:rPr lang="en-US" b="1" dirty="0"/>
              <a:t>expression: </a:t>
            </a:r>
            <a:r>
              <a:rPr lang="en-US" dirty="0"/>
              <a:t>The transformation or value to be included in the new list.</a:t>
            </a:r>
          </a:p>
          <a:p>
            <a:pPr fontAlgn="base"/>
            <a:r>
              <a:rPr lang="en-US" b="1" dirty="0"/>
              <a:t>item: </a:t>
            </a:r>
            <a:r>
              <a:rPr lang="en-US" dirty="0"/>
              <a:t>The current element taken from the </a:t>
            </a:r>
            <a:r>
              <a:rPr lang="en-US" dirty="0" err="1"/>
              <a:t>iterable</a:t>
            </a:r>
            <a:r>
              <a:rPr lang="en-US" dirty="0"/>
              <a:t>.</a:t>
            </a:r>
          </a:p>
          <a:p>
            <a:pPr fontAlgn="base"/>
            <a:r>
              <a:rPr lang="en-US" b="1" dirty="0" err="1"/>
              <a:t>iterable</a:t>
            </a:r>
            <a:r>
              <a:rPr lang="en-US" b="1" dirty="0"/>
              <a:t>: </a:t>
            </a:r>
            <a:r>
              <a:rPr lang="en-US" dirty="0"/>
              <a:t>A sequence or collection (e.g., list, tuple, set).</a:t>
            </a:r>
          </a:p>
          <a:p>
            <a:pPr fontAlgn="base"/>
            <a:r>
              <a:rPr lang="en-US" b="1" dirty="0"/>
              <a:t>if condition (optional):</a:t>
            </a:r>
            <a:r>
              <a:rPr lang="en-US" dirty="0"/>
              <a:t> A filtering condition that decides whether the current item should be included.</a:t>
            </a:r>
          </a:p>
          <a:p>
            <a:r>
              <a:rPr lang="en-US" dirty="0"/>
              <a:t/>
            </a:r>
            <a:br>
              <a:rPr lang="en-US" dirty="0"/>
            </a:br>
            <a:endParaRPr lang="en-IN" dirty="0"/>
          </a:p>
        </p:txBody>
      </p:sp>
      <p:sp>
        <p:nvSpPr>
          <p:cNvPr id="4" name="Content Placeholder 3"/>
          <p:cNvSpPr>
            <a:spLocks noGrp="1"/>
          </p:cNvSpPr>
          <p:nvPr>
            <p:ph sz="half" idx="2"/>
          </p:nvPr>
        </p:nvSpPr>
        <p:spPr/>
        <p:txBody>
          <a:bodyPr>
            <a:normAutofit fontScale="85000" lnSpcReduction="20000"/>
          </a:bodyPr>
          <a:lstStyle/>
          <a:p>
            <a:r>
              <a:rPr lang="en-IN" dirty="0"/>
              <a:t>Example:</a:t>
            </a:r>
          </a:p>
          <a:p>
            <a:pPr marL="0" indent="0">
              <a:buNone/>
            </a:pPr>
            <a:endParaRPr lang="en-IN" dirty="0"/>
          </a:p>
          <a:p>
            <a:r>
              <a:rPr lang="en-IN" dirty="0"/>
              <a:t>a = [2,3,4,5]</a:t>
            </a:r>
          </a:p>
          <a:p>
            <a:r>
              <a:rPr lang="en-IN" dirty="0"/>
              <a:t>res = [</a:t>
            </a:r>
            <a:r>
              <a:rPr lang="en-IN" dirty="0" err="1"/>
              <a:t>val</a:t>
            </a:r>
            <a:r>
              <a:rPr lang="en-IN" dirty="0"/>
              <a:t> ** 2 for </a:t>
            </a:r>
            <a:r>
              <a:rPr lang="en-IN" dirty="0" err="1"/>
              <a:t>val</a:t>
            </a:r>
            <a:r>
              <a:rPr lang="en-IN" dirty="0"/>
              <a:t> in a]</a:t>
            </a:r>
          </a:p>
          <a:p>
            <a:r>
              <a:rPr lang="en-IN" dirty="0"/>
              <a:t>print(res)</a:t>
            </a:r>
          </a:p>
          <a:p>
            <a:endParaRPr lang="en-IN" dirty="0"/>
          </a:p>
          <a:p>
            <a:endParaRPr lang="en-IN" dirty="0"/>
          </a:p>
          <a:p>
            <a:r>
              <a:rPr lang="en-IN" dirty="0"/>
              <a:t>Output</a:t>
            </a:r>
          </a:p>
          <a:p>
            <a:r>
              <a:rPr lang="en-IN" dirty="0"/>
              <a:t>[4, 9, 16, 25]</a:t>
            </a:r>
          </a:p>
          <a:p>
            <a:endParaRPr lang="en-IN" dirty="0"/>
          </a:p>
        </p:txBody>
      </p:sp>
    </p:spTree>
    <p:extLst>
      <p:ext uri="{BB962C8B-B14F-4D97-AF65-F5344CB8AC3E}">
        <p14:creationId xmlns:p14="http://schemas.microsoft.com/office/powerpoint/2010/main" val="7029140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sz="half" idx="1"/>
          </p:nvPr>
        </p:nvSpPr>
        <p:spPr/>
        <p:txBody>
          <a:bodyPr>
            <a:normAutofit fontScale="70000" lnSpcReduction="20000"/>
          </a:bodyPr>
          <a:lstStyle/>
          <a:p>
            <a:r>
              <a:rPr lang="en-US" dirty="0" smtClean="0"/>
              <a:t>For loop</a:t>
            </a:r>
          </a:p>
          <a:p>
            <a:r>
              <a:rPr lang="en-US" dirty="0" smtClean="0"/>
              <a:t>a </a:t>
            </a:r>
            <a:r>
              <a:rPr lang="en-US" dirty="0"/>
              <a:t>= [1, 2, 3, 4, 5]</a:t>
            </a:r>
          </a:p>
          <a:p>
            <a:endParaRPr lang="en-US" dirty="0"/>
          </a:p>
          <a:p>
            <a:r>
              <a:rPr lang="en-US" dirty="0"/>
              <a:t># Create an empty list 'res' to store results</a:t>
            </a:r>
          </a:p>
          <a:p>
            <a:r>
              <a:rPr lang="en-US" dirty="0"/>
              <a:t>res = []</a:t>
            </a:r>
          </a:p>
          <a:p>
            <a:endParaRPr lang="en-US" dirty="0"/>
          </a:p>
          <a:p>
            <a:r>
              <a:rPr lang="en-US" dirty="0"/>
              <a:t># Iterate over each element in list 'a'</a:t>
            </a:r>
          </a:p>
          <a:p>
            <a:r>
              <a:rPr lang="en-US" dirty="0"/>
              <a:t>for </a:t>
            </a:r>
            <a:r>
              <a:rPr lang="en-US" dirty="0" err="1"/>
              <a:t>val</a:t>
            </a:r>
            <a:r>
              <a:rPr lang="en-US" dirty="0"/>
              <a:t> in a:</a:t>
            </a:r>
          </a:p>
          <a:p>
            <a:r>
              <a:rPr lang="en-US" dirty="0"/>
              <a:t>  </a:t>
            </a:r>
          </a:p>
          <a:p>
            <a:r>
              <a:rPr lang="en-US" dirty="0"/>
              <a:t>    # Multiply each element by 2 and append it to 'res'</a:t>
            </a:r>
          </a:p>
          <a:p>
            <a:r>
              <a:rPr lang="en-US" dirty="0"/>
              <a:t>    </a:t>
            </a:r>
            <a:r>
              <a:rPr lang="en-US" dirty="0" err="1"/>
              <a:t>res.append</a:t>
            </a:r>
            <a:r>
              <a:rPr lang="en-US" dirty="0"/>
              <a:t>(</a:t>
            </a:r>
            <a:r>
              <a:rPr lang="en-US" dirty="0" err="1"/>
              <a:t>val</a:t>
            </a:r>
            <a:r>
              <a:rPr lang="en-US" dirty="0"/>
              <a:t> * 2)</a:t>
            </a:r>
          </a:p>
          <a:p>
            <a:endParaRPr lang="en-US" dirty="0"/>
          </a:p>
          <a:p>
            <a:r>
              <a:rPr lang="en-US" dirty="0"/>
              <a:t>print(res)</a:t>
            </a:r>
            <a:endParaRPr lang="en-IN" dirty="0"/>
          </a:p>
        </p:txBody>
      </p:sp>
      <p:sp>
        <p:nvSpPr>
          <p:cNvPr id="4" name="Content Placeholder 3"/>
          <p:cNvSpPr>
            <a:spLocks noGrp="1"/>
          </p:cNvSpPr>
          <p:nvPr>
            <p:ph sz="half" idx="2"/>
          </p:nvPr>
        </p:nvSpPr>
        <p:spPr/>
        <p:txBody>
          <a:bodyPr>
            <a:normAutofit fontScale="70000" lnSpcReduction="20000"/>
          </a:bodyPr>
          <a:lstStyle/>
          <a:p>
            <a:r>
              <a:rPr lang="en-IN" dirty="0" smtClean="0"/>
              <a:t>List Comprehension</a:t>
            </a:r>
          </a:p>
          <a:p>
            <a:endParaRPr lang="en-IN" dirty="0"/>
          </a:p>
          <a:p>
            <a:r>
              <a:rPr lang="en-IN" dirty="0"/>
              <a:t>a = [1, 2, 3, 4, 5]</a:t>
            </a:r>
          </a:p>
          <a:p>
            <a:endParaRPr lang="en-IN" dirty="0"/>
          </a:p>
          <a:p>
            <a:r>
              <a:rPr lang="en-IN" dirty="0"/>
              <a:t>res = [</a:t>
            </a:r>
            <a:r>
              <a:rPr lang="en-IN" dirty="0" err="1"/>
              <a:t>val</a:t>
            </a:r>
            <a:r>
              <a:rPr lang="en-IN" dirty="0"/>
              <a:t> * 2 for </a:t>
            </a:r>
            <a:r>
              <a:rPr lang="en-IN" dirty="0" err="1"/>
              <a:t>val</a:t>
            </a:r>
            <a:r>
              <a:rPr lang="en-IN" dirty="0"/>
              <a:t> in a]</a:t>
            </a:r>
          </a:p>
          <a:p>
            <a:endParaRPr lang="en-IN" dirty="0"/>
          </a:p>
          <a:p>
            <a:r>
              <a:rPr lang="en-IN" dirty="0"/>
              <a:t>print(res</a:t>
            </a:r>
            <a:r>
              <a:rPr lang="en-IN" dirty="0" smtClean="0"/>
              <a:t>)</a:t>
            </a:r>
          </a:p>
          <a:p>
            <a:endParaRPr lang="en-IN" dirty="0"/>
          </a:p>
        </p:txBody>
      </p:sp>
    </p:spTree>
    <p:extLst>
      <p:ext uri="{BB962C8B-B14F-4D97-AF65-F5344CB8AC3E}">
        <p14:creationId xmlns:p14="http://schemas.microsoft.com/office/powerpoint/2010/main" val="3969223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Conditional expression in list comprehension</a:t>
            </a:r>
            <a:endParaRPr lang="en-IN" dirty="0"/>
          </a:p>
        </p:txBody>
      </p:sp>
      <p:sp>
        <p:nvSpPr>
          <p:cNvPr id="3" name="Content Placeholder 2"/>
          <p:cNvSpPr>
            <a:spLocks noGrp="1"/>
          </p:cNvSpPr>
          <p:nvPr>
            <p:ph sz="half" idx="1"/>
          </p:nvPr>
        </p:nvSpPr>
        <p:spPr>
          <a:xfrm>
            <a:off x="609599" y="1673352"/>
            <a:ext cx="10446327" cy="4718304"/>
          </a:xfrm>
        </p:spPr>
        <p:txBody>
          <a:bodyPr/>
          <a:lstStyle/>
          <a:p>
            <a:r>
              <a:rPr lang="en-US" dirty="0"/>
              <a:t>numbers = [x if x % 2 == 0 else 'odd' for x in range(5</a:t>
            </a:r>
            <a:r>
              <a:rPr lang="en-US" dirty="0" smtClean="0"/>
              <a:t>)]</a:t>
            </a:r>
          </a:p>
          <a:p>
            <a:r>
              <a:rPr lang="en-US" dirty="0" smtClean="0"/>
              <a:t>print(numbers</a:t>
            </a:r>
            <a:r>
              <a:rPr lang="en-US" dirty="0"/>
              <a:t>) </a:t>
            </a:r>
            <a:endParaRPr lang="en-US" dirty="0" smtClean="0"/>
          </a:p>
          <a:p>
            <a:pPr marL="0" indent="0">
              <a:buNone/>
            </a:pPr>
            <a:r>
              <a:rPr lang="en-US" dirty="0" smtClean="0"/>
              <a:t> </a:t>
            </a:r>
            <a:r>
              <a:rPr lang="en-US" dirty="0"/>
              <a:t># Output: [0, 'odd', 2, 'odd', 4]</a:t>
            </a:r>
            <a:endParaRPr lang="en-IN" dirty="0"/>
          </a:p>
        </p:txBody>
      </p:sp>
    </p:spTree>
    <p:extLst>
      <p:ext uri="{BB962C8B-B14F-4D97-AF65-F5344CB8AC3E}">
        <p14:creationId xmlns:p14="http://schemas.microsoft.com/office/powerpoint/2010/main" val="40361253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840</TotalTime>
  <Words>4218</Words>
  <Application>Microsoft Office PowerPoint</Application>
  <PresentationFormat>Widescreen</PresentationFormat>
  <Paragraphs>556</Paragraphs>
  <Slides>56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Aharoni</vt:lpstr>
      <vt:lpstr>Arial</vt:lpstr>
      <vt:lpstr>Google Sans</vt:lpstr>
      <vt:lpstr>Nunito</vt:lpstr>
      <vt:lpstr>Times New Roman</vt:lpstr>
      <vt:lpstr>Clarity</vt:lpstr>
      <vt:lpstr>PYTHON Programming</vt:lpstr>
      <vt:lpstr>Course Objectives</vt:lpstr>
      <vt:lpstr> Module 2: Python Functions    </vt:lpstr>
      <vt:lpstr>Function in Python</vt:lpstr>
      <vt:lpstr>Functions declaration and types in Python</vt:lpstr>
      <vt:lpstr>Example</vt:lpstr>
      <vt:lpstr>Example</vt:lpstr>
      <vt:lpstr>example</vt:lpstr>
      <vt:lpstr>Output</vt:lpstr>
      <vt:lpstr>Docstring in python</vt:lpstr>
      <vt:lpstr>Contd…</vt:lpstr>
      <vt:lpstr>Contd…</vt:lpstr>
      <vt:lpstr>Example</vt:lpstr>
      <vt:lpstr>example</vt:lpstr>
      <vt:lpstr>Function parameters and arguments</vt:lpstr>
      <vt:lpstr>Function parameter: default</vt:lpstr>
      <vt:lpstr> Keyword Required Arguments (*)</vt:lpstr>
      <vt:lpstr>Variable-Length Arguments</vt:lpstr>
      <vt:lpstr>Contd…</vt:lpstr>
      <vt:lpstr>Example</vt:lpstr>
      <vt:lpstr>Global and local variable</vt:lpstr>
      <vt:lpstr> cont..</vt:lpstr>
      <vt:lpstr>Example</vt:lpstr>
      <vt:lpstr>Contd…</vt:lpstr>
      <vt:lpstr>Pass by value and pass by reference</vt:lpstr>
      <vt:lpstr>Cont..</vt:lpstr>
      <vt:lpstr>Contd…</vt:lpstr>
      <vt:lpstr>Immutable Objects (e.g., integers, strings, tuples)</vt:lpstr>
      <vt:lpstr>Mutable Objects (e.g., lists, dictionaries, sets)</vt:lpstr>
      <vt:lpstr>Built in functions in python</vt:lpstr>
      <vt:lpstr>Cont..</vt:lpstr>
      <vt:lpstr>User defined functions in python </vt:lpstr>
      <vt:lpstr>Cont..</vt:lpstr>
      <vt:lpstr>Recursion functions</vt:lpstr>
      <vt:lpstr>Example of a Recursive Function: Factorial</vt:lpstr>
      <vt:lpstr>How recursion works step by step</vt:lpstr>
      <vt:lpstr>Functional Programming in Python </vt:lpstr>
      <vt:lpstr>Map –reduce-filter in python</vt:lpstr>
      <vt:lpstr>Map  - Filter  - Reduce</vt:lpstr>
      <vt:lpstr>Mapping</vt:lpstr>
      <vt:lpstr>Example</vt:lpstr>
      <vt:lpstr>Filtering</vt:lpstr>
      <vt:lpstr>Examples</vt:lpstr>
      <vt:lpstr>Example</vt:lpstr>
      <vt:lpstr>Reduction</vt:lpstr>
      <vt:lpstr>Examples</vt:lpstr>
      <vt:lpstr>Lambda function(Function without name)</vt:lpstr>
      <vt:lpstr>Contd…</vt:lpstr>
      <vt:lpstr>Contd…</vt:lpstr>
      <vt:lpstr>Contd…</vt:lpstr>
      <vt:lpstr>Contd…</vt:lpstr>
      <vt:lpstr>Contd…</vt:lpstr>
      <vt:lpstr>List Comprehension in Python </vt:lpstr>
      <vt:lpstr>Contd…</vt:lpstr>
      <vt:lpstr>Example</vt:lpstr>
      <vt:lpstr>Conditional expression in list comprehension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dc:title>
  <dc:creator>Microsoft account</dc:creator>
  <cp:lastModifiedBy>Microsoft account</cp:lastModifiedBy>
  <cp:revision>158</cp:revision>
  <dcterms:created xsi:type="dcterms:W3CDTF">2024-12-18T09:38:10Z</dcterms:created>
  <dcterms:modified xsi:type="dcterms:W3CDTF">2025-01-22T07:03:57Z</dcterms:modified>
</cp:coreProperties>
</file>